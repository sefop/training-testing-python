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408" r:id="rId3"/>
    <p:sldId id="260" r:id="rId4"/>
    <p:sldId id="263" r:id="rId5"/>
    <p:sldId id="264" r:id="rId6"/>
    <p:sldId id="265" r:id="rId7"/>
    <p:sldId id="266" r:id="rId8"/>
    <p:sldId id="261" r:id="rId9"/>
    <p:sldId id="267" r:id="rId10"/>
    <p:sldId id="409" r:id="rId11"/>
    <p:sldId id="414" r:id="rId12"/>
    <p:sldId id="410" r:id="rId13"/>
    <p:sldId id="402" r:id="rId14"/>
    <p:sldId id="412" r:id="rId15"/>
    <p:sldId id="411" r:id="rId16"/>
    <p:sldId id="415" r:id="rId17"/>
    <p:sldId id="4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EB"/>
    <a:srgbClr val="4A75CC"/>
    <a:srgbClr val="4165B0"/>
    <a:srgbClr val="3B5B9C"/>
    <a:srgbClr val="BF3DC2"/>
    <a:srgbClr val="FED730"/>
    <a:srgbClr val="FFFFFF"/>
    <a:srgbClr val="F8F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2549" autoAdjust="0"/>
  </p:normalViewPr>
  <p:slideViewPr>
    <p:cSldViewPr snapToGrid="0">
      <p:cViewPr varScale="1">
        <p:scale>
          <a:sx n="73" d="100"/>
          <a:sy n="73" d="100"/>
        </p:scale>
        <p:origin x="11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929D2-0E8B-4573-AA4B-C87D4F90B45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1C955-0A53-4CE8-B014-58EE68AEC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2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52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sys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add(x: int, y: int) -&gt; int: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Add two integers with validation and overflow detection.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commutativity: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y,x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identity: add(x,0) = add(0,x)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x: First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y: Second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:return: x + y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either x or y is not an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the sum exceeds the maximum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representable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Input validation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("x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("y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Compute the sum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result = x + y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Check for overflow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result &gt;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result &lt; 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- 1: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("Integer overflow")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result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__name__ == "__main__":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normal usage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print("=== Normal Usage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(5, 3) = {add(5, 3)}")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4) = {add(-10, 4)}")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42) = {add(0, 42)}")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Type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add("5", 3)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Overflow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print(add(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1))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85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33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595A-ABC1-D391-4B3D-F5198D4F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6E648-2D0A-ED09-EBCB-221318E46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87C88-0F1E-A545-CD00-32D9A441D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sys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add(x: int, y: int) -&gt; int: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Add two integers with validation and overflow detection.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commutativity: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y,x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identity: add(x,0) = add(0,x)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x: First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y: Second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:return: x + y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either x or y is not an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the sum exceeds the maximum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representable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Input validation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("x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("y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Compute the sum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result = x + y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Check for overflow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result &gt;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result &lt; 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- 1: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("Integer overflow")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result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__name__ == "__main__":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normal usage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print("=== Normal Usage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(5, 3) = {add(5, 3)}")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4) = {add(-10, 4)}")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42) = {add(0, 42)}")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Type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add("5", 3)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Overflow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print(add(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1))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F44E4-9FD9-DCBC-9496-47D8159D6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94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2078-B80A-68E9-0301-A75C068C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B8CC9-F413-9848-701F-8399B000D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24A33-DC28-35F4-EFAB-8233CB294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sys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add(x: int, y: int) -&gt; int: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Add two integers with validation and overflow detection.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commutativity: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y,x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identity: add(x,0) = add(0,x)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x: First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y: Second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:return: x + y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either x or y is not an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the sum exceeds the maximum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representable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Input validation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("x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("y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Compute the sum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result = x + y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Check for overflow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result &gt;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result &lt; 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- 1: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("Integer overflow")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result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__name__ == "__main__":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normal usage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print("=== Normal Usage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(5, 3) = {add(5, 3)}")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4) = {add(-10, 4)}")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42) = {add(0, 42)}")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Type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add("5", 3)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Overflow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print(add(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1))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B396-1680-0960-A2AA-97B2D4C28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47D5-A839-9DA9-18DE-5239118C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159F8-B23F-2504-0EA8-50E106E8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F84EC-CBAD-6503-68B1-57F49B658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sys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add(x: int, y: int) -&gt; int: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Add two integers with validation and overflow detection.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commutativity: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y,x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identity: add(x,0) = add(0,x)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x: First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y: Second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:return: x + y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either x or y is not an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the sum exceeds the maximum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representable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Input validation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("x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("y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Compute the sum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result = x + y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Check for overflow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result &gt;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result &lt; 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- 1: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("Integer overflow")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result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__name__ == "__main__":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normal usage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print("=== Normal Usage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(5, 3) = {add(5, 3)}")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4) = {add(-10, 4)}")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42) = {add(0, 42)}")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Type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add("5", 3)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Overflow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print(add(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1))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D303-89CE-AB84-CE24-12EFF48D7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1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A7FA-FC2C-8143-7BD5-C4B35495C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08C6D-A4E6-5BFF-33EC-D681CCEDD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877AA-66C9-0FBC-8E6C-16D5BE9D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D308-A2A6-458E-94F6-BC214F8ABC37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618D-839F-0936-61F4-7B566ACA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FC49-8F05-E0BC-735C-F2145DCF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1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3823-FA07-BC3A-66CD-15603261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15F4-FC5B-6F65-02BB-8B654B520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F2577-DCCD-FB8F-146B-A10FEEAD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85F6-4E0D-4F96-9D4A-701A51C03A8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0DD46-F7DB-F450-1F14-2DB08F5F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025F-701A-4930-CA17-FB47EC25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0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C2C9-99FF-422C-B62C-6DF80AF8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BAD01-9A0F-30B8-061E-3AAF63AFC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4B95D-5732-9118-FD9B-1404C151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6074-FB5B-4111-AD69-45F699D11CE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B8419-77CF-FC71-37BC-452F4291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8B94-3819-A60F-EFCF-08F7782C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2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44FF-678C-0BD0-428A-A871E537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2F9B-0B9A-E50B-65AC-35B6B2136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2EA85-2546-829D-C3B4-9AAB4E314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55076-6DD3-F6ED-6626-38C2BF0A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287-A541-4FBC-9DFE-4C26D02CBEED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FA390-2D6F-996C-15D8-E5F6B0E5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4FB98-97E2-95D9-B706-B2F83ECE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FF51-DA4B-F23C-1E13-A171AFEC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AD0CE-C3F7-931E-0C7F-C14F0657D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D766D-3F7B-0308-7371-097BB697B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033623-74F2-F34E-B875-CB2E92594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868A1-B065-7055-1123-7769396F1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EBC530-AF4D-D30A-33F7-AAF8542F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DCE4-AB02-448D-8752-78E172822B45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325AD3-9833-7FBA-C115-F1432B73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E4972-2FDA-0C4C-9114-45BE00A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17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5E64-549D-B3C5-9569-1005A3F8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7498B-08B0-9EEB-FE57-6E4CE193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880FA-E6AF-4379-8F5E-BF92A0077603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B4688-DFD3-8A3A-ABA1-A90CD299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A0BEA-B09B-16E7-B518-1C460D5B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2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D12F9-C1FD-9FE3-8A1A-811FB87A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73D9-244C-41BD-9010-1679B124B651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6434A-0CC5-60C1-9980-B6261DE7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2B6B5-5469-B640-E8EE-23146E0F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8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7E21-9372-8ED3-329E-6021DA01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708B-AF9D-F4A0-0BF6-F4CF158F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8C2A2-C539-D8FC-94CB-3EDEEF7D3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F6337-2480-96DA-D656-76980DD7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5AE8-4771-44FE-AD20-D090FAF8EACD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D0933-CD73-DE3D-4126-25F4DF0C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FA452-AD50-50F2-73E4-A1F65833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D629-5C00-6593-A058-B3D65E88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05C69-01B6-1C72-02E6-006707023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69A62-155A-7D11-BDC1-75D2EA878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9B763-5803-D2BF-F09D-B3AF21F7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CF6E-9787-4A8B-BC44-1D044A98129C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B494A-7CDC-BE11-85CF-897A3321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CD85-87E7-EDAC-18C2-2D8B3CC3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B80B-44C2-EC2C-FA23-E70EEAB6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900F9-6130-1E23-5E58-90F5EECC8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66F75-14BD-7CD8-762E-201FEAC3C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DB6CE-6FE7-4B2B-9FC6-2BCAE31CBB40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2F5E3-6594-C08D-FCA5-0A1C4559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2F9DB-0A04-BFE4-E265-4B560A70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B887A-07BE-867A-A399-7772D5F1E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97AD7-EA8E-5DB1-E6D5-88B97D380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6D669-FF1F-8A39-6672-2D952DB3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A857-2376-48D2-96A8-556A5B78D1E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40390-C889-B970-0D47-80319B4B0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9B2FD-F587-8E25-8F9E-F9034E1E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74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7113ECF-D558-6343-9EA9-D26C0BEB87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6047793-0769-0F4F-8A1A-EA53AA366F38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B6606B5-AB41-244D-A481-083D61F996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7172" y="1282414"/>
            <a:ext cx="3945440" cy="687003"/>
          </a:xfrm>
        </p:spPr>
        <p:txBody>
          <a:bodyPr/>
          <a:lstStyle>
            <a:lvl1pPr marL="0" indent="0">
              <a:buNone/>
              <a:defRPr sz="4400" b="1">
                <a:solidFill>
                  <a:srgbClr val="36495A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F49F257-122B-1342-A5C8-E06994015C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3441" y="2330970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CEEB0733-7C4D-AB47-8943-1E66EE3BC7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1042" y="2307806"/>
            <a:ext cx="2471570" cy="68700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982B6BA-A4F8-604E-8083-EC3893065A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88367" y="3266323"/>
            <a:ext cx="2471569" cy="687001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C7FB3EE-55C2-EC45-8B5A-C3E221991D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88370" y="4251824"/>
            <a:ext cx="2471566" cy="6870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1A11A3A2-F7FC-024D-B08B-85CD527C34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85695" y="5210341"/>
            <a:ext cx="2471565" cy="68699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A2D3FFA5-6100-284A-B619-D879ABF148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30431" y="3260977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E653DCB8-B576-C34D-97FF-79FA7442C8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0433" y="4246477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F64038-D074-5446-BD2B-052288BA39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7759" y="5204995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DA1D93C2-309B-624E-9360-9140E8D358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27758" y="2307806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C57D0B18-26B7-2048-8153-4931BC262F1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9087" y="3306329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FFD5E081-880A-584A-871C-1B7B0EB105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52150" y="4265022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808C7EEA-0A75-084B-9D51-BF243C7B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47796" y="5266507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A28A7FCF-BB31-0D48-B92E-1C31112542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14654" y="2339679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F7B5DEFB-876C-3B4E-BCC9-3ADBF8069A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3315038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10CEB7B-B0A0-E242-B2B0-5EA105AEFB9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23363" y="4273731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93B58029-A3D2-924F-982D-DB20AC7F6A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9009" y="5275216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328281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orient="horz" pos="3360">
          <p15:clr>
            <a:srgbClr val="FBAE40"/>
          </p15:clr>
        </p15:guide>
        <p15:guide id="4" pos="3912">
          <p15:clr>
            <a:srgbClr val="FBAE40"/>
          </p15:clr>
        </p15:guide>
        <p15:guide id="5" pos="11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67C89-DF97-1F1A-4C43-EF67E82C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B7A37-FDD7-74A3-BD19-00F35626F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503E3-9BD1-10B7-6588-2C4710202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A354C-DC0A-4C3E-BF4A-9931F7807B9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EE4EC-22BF-5EB5-2C90-AF65F338D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F295C-54A5-3E07-6F47-52921E977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0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fop/training-testing-pyth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Zm0lHciFsQ" TargetMode="External"/><Relationship Id="rId2" Type="http://schemas.openxmlformats.org/officeDocument/2006/relationships/hyperlink" Target="https://www.testingdocs.com/junit-calculator-test-case-example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hyperlink" Target="https://github.com/sefop/training-testing-python/blob/main/src/calculator.py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efop/training-testing-python/blob/main/exercises/unit-tests/how-to-code-coverage.md" TargetMode="External"/><Relationship Id="rId4" Type="http://schemas.openxmlformats.org/officeDocument/2006/relationships/hyperlink" Target="https://en.wikipedia.org/wiki/Code_coverage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fop/training-testing-python/blob/main/tests/test_calculator_add.py" TargetMode="External"/><Relationship Id="rId2" Type="http://schemas.openxmlformats.org/officeDocument/2006/relationships/hyperlink" Target="https://github.com/sefop/training-testing-python/blob/main/src/calculator.py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efop/training-testing-python/blob/main/tests/test_calculator_divide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D7C4-5D57-5161-13C9-828E40279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4762"/>
            <a:ext cx="9144000" cy="1534018"/>
          </a:xfrm>
        </p:spPr>
        <p:txBody>
          <a:bodyPr/>
          <a:lstStyle/>
          <a:p>
            <a:r>
              <a:rPr lang="en-US" noProof="0" dirty="0"/>
              <a:t>Introduction to Unit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FEFBB-53FA-521E-0BBD-6AB61DFD6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3551"/>
            <a:ext cx="9144000" cy="1100470"/>
          </a:xfrm>
        </p:spPr>
        <p:txBody>
          <a:bodyPr>
            <a:normAutofit/>
          </a:bodyPr>
          <a:lstStyle/>
          <a:p>
            <a:r>
              <a:rPr lang="en-US" b="1" noProof="0" dirty="0"/>
              <a:t>SEFOP</a:t>
            </a:r>
          </a:p>
          <a:p>
            <a:r>
              <a:rPr lang="en-US" b="1" dirty="0">
                <a:hlinkClick r:id="rId3"/>
              </a:rPr>
              <a:t>https://github.com/sefop/training-testing-python</a:t>
            </a:r>
            <a:r>
              <a:rPr lang="en-US" b="1" dirty="0"/>
              <a:t> </a:t>
            </a:r>
            <a:endParaRPr lang="en-US" b="1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BEC56-8570-5650-3F54-20175E33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EB71A-CC1F-BFAF-3460-783634A6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7950-D05F-19D8-F0D0-1BE79BE79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871518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Types of tests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DAFE7-7C5D-05A8-C252-CFD32C1288D4}"/>
              </a:ext>
            </a:extLst>
          </p:cNvPr>
          <p:cNvSpPr/>
          <p:nvPr/>
        </p:nvSpPr>
        <p:spPr>
          <a:xfrm>
            <a:off x="1252922" y="2103120"/>
            <a:ext cx="3928678" cy="243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Does my program provide its services correctly?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989E0-1E09-0E30-7C37-7067E724B24D}"/>
              </a:ext>
            </a:extLst>
          </p:cNvPr>
          <p:cNvSpPr/>
          <p:nvPr/>
        </p:nvSpPr>
        <p:spPr>
          <a:xfrm>
            <a:off x="6424362" y="2103120"/>
            <a:ext cx="3928678" cy="243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 surrounding the services (security, speed, usability, availability, scalability,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EA598-1B24-5F8C-9A49-A5CB9E11E21A}"/>
              </a:ext>
            </a:extLst>
          </p:cNvPr>
          <p:cNvSpPr txBox="1"/>
          <p:nvPr/>
        </p:nvSpPr>
        <p:spPr>
          <a:xfrm>
            <a:off x="1252922" y="1678523"/>
            <a:ext cx="3928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Functional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73DED-70E5-D9E3-CC77-E542C4DA3036}"/>
              </a:ext>
            </a:extLst>
          </p:cNvPr>
          <p:cNvSpPr txBox="1"/>
          <p:nvPr/>
        </p:nvSpPr>
        <p:spPr>
          <a:xfrm>
            <a:off x="6424362" y="1678523"/>
            <a:ext cx="3928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Non-functional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B8C68C-D2BE-8F98-7526-99299CF7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2</a:t>
            </a:fld>
            <a:endParaRPr lang="en-US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9DD81FD-7D04-ABB4-B16F-1D59C6CA5DF8}"/>
              </a:ext>
            </a:extLst>
          </p:cNvPr>
          <p:cNvSpPr/>
          <p:nvPr/>
        </p:nvSpPr>
        <p:spPr>
          <a:xfrm>
            <a:off x="1965434" y="5050752"/>
            <a:ext cx="2711669" cy="583324"/>
          </a:xfrm>
          <a:prstGeom prst="wedgeRectCallout">
            <a:avLst>
              <a:gd name="adj1" fmla="val -21667"/>
              <a:gd name="adj2" fmla="val -88158"/>
            </a:avLst>
          </a:prstGeom>
          <a:solidFill>
            <a:srgbClr val="F8F7C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Focus of this session</a:t>
            </a:r>
          </a:p>
        </p:txBody>
      </p:sp>
    </p:spTree>
    <p:extLst>
      <p:ext uri="{BB962C8B-B14F-4D97-AF65-F5344CB8AC3E}">
        <p14:creationId xmlns:p14="http://schemas.microsoft.com/office/powerpoint/2010/main" val="55962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09C7-2069-EBE4-042A-CB9FFD6B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3411-0A9C-853C-1DCF-D810DDD3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FAA8689D-5C0E-8EB0-FDEF-47C8E94D7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6EC7-BF9C-F8AC-252F-57738992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0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FDBD-9FF5-10F8-DB4F-4FDB2C51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AEDB-11A5-583C-F831-E05EBCEE2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492B8520-4513-5874-C8A3-E7076A0A0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E77119-DB30-B827-4756-B967DC475BFA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AE438A-BA44-BC9C-C2AF-7C8C0C60F2F3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9D51B6-47C8-2281-650F-01238D1BA5C2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1A11F-7DC3-EF9F-26E3-2753A0C33C80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3887A-8399-66FF-D114-D0E1694F4F7C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F5B7C0-497E-B7B9-7093-F940782C50B5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FC6BB-577F-5A11-E8FB-A76525192ABD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12456-3D4C-84CC-4AD9-2CD72340D86E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477AC2-93DD-F377-7779-4B6F090D10A0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3345-B205-7596-87FE-19DA3EC94731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60C23-603E-D5B3-5F44-A674E6A0DED9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DFF0AA-79ED-C40E-190C-24497E63B1B1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47486-3772-B2C0-2CFD-3A91146D4FA4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80104C-B69C-97BE-7A8F-21A602D88479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display_report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56CC0E7-4CCF-6695-D93C-CF3DFF993120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AEE5C63-03F0-8E39-E3E0-E5D0F3504C7C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BC5A89F-94D8-1490-D480-5D27BF83CD3C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07F44C0-909E-060C-E0CD-A421823B175D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0718111-B891-8039-E414-B04CDCFED757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A2160343-9380-3219-E30E-27B11D182714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8E71D49-A7D2-C839-7C29-186D8DC6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6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7561-85DC-1001-A2B2-3DCF286D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622B-7DEF-1FB5-9652-3359CDCE3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21D3FDD6-2F27-D2CB-417F-75C1DF8F5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07524B-AE55-1C21-AA56-02CBE7BA05A6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26C67-3EAC-F8B2-1EAD-46B967AC0842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4A820D-0A9A-DCCD-4D2E-BA7D6244D6E6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00C8B-2F8D-AB2E-6340-24993CDFA6BC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FC491-6DA9-0D71-A4F0-4F5D610F79CB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B9AF9-9268-6C3C-5A0B-D5EF5334BC21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AC510-5826-9A63-EF99-2B74C3EC5D92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8AD692-A818-4061-D3B3-93CB39385C59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  <a:ln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783BD5-E9F4-7EAB-FDA8-8C1A42BE685C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F20129-1FD1-113C-345A-5F615D57D163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F062E5-D111-7D40-3E2E-A6ECB5998E61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7E460F-EC47-5D33-DBC2-0166665B8D86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258CA-01EF-E0E8-0C04-D6D19212F9A0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5454EF-3283-2D21-7678-CBCCA8897D37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rgbClr val="5959EB"/>
          </a:solidFill>
          <a:ln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display_report</a:t>
            </a:r>
            <a:r>
              <a:rPr lang="en-US" sz="16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32CE475D-0FB4-49C7-213B-55495B0D4990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rgbClr val="5959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31F5731-9FBD-C5E5-BEDE-E3F021964B0F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D97D034-338E-6906-3958-B1C31FDDD15F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B5A4E6D-2270-0CA2-E734-AB2F11B88880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C38DA766-4C16-D780-9F45-1F76B071D6AA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F4B533C-6AC9-6256-2786-E968CBD24EEE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A8834D-EF20-C6B8-4E14-040859D14E38}"/>
              </a:ext>
            </a:extLst>
          </p:cNvPr>
          <p:cNvSpPr/>
          <p:nvPr/>
        </p:nvSpPr>
        <p:spPr>
          <a:xfrm>
            <a:off x="1359939" y="3185497"/>
            <a:ext cx="5151120" cy="175226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61E71D7-C011-196A-2E5A-A1447CDE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5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DE6A-0E27-5888-E0DE-FDF7985B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BDF3-F655-A230-6D99-91E0857A5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F513614C-B51C-D579-2A1A-162C168B1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115A27E-E41F-1E56-A80C-70C117FD7745}"/>
              </a:ext>
            </a:extLst>
          </p:cNvPr>
          <p:cNvSpPr/>
          <p:nvPr/>
        </p:nvSpPr>
        <p:spPr>
          <a:xfrm>
            <a:off x="1359939" y="1721445"/>
            <a:ext cx="5151120" cy="142815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67BF6C-669D-B467-C5BD-1CF894192F9B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8413CF-8183-170F-8F91-85F10CE523F7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867397-522C-821E-9DA4-BF9AF39AE346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6D3F39-F47A-B1B5-D24A-8734F25BD86D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4D95BF-CEF1-1EC8-2DED-8CC509135C8F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D5B517-D0C6-6501-8CAE-D137F0148599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D6BD15-5C8B-30AD-F335-ED9264216FD5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17112D-5BB0-217F-5DBD-9B11327EAE95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4387EE-F506-0B1C-0751-9A691E003B83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12392A-E752-8090-9A1F-77A7D0C05387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230F9-95B8-F282-6268-46E4EC7A91F7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599EA5-BB05-7227-9665-C008D51C34C9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4C68BB-5809-FE03-5FBB-534F5BF8015E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DC4045-7063-2C29-0340-5E01B31C60A5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display_report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2A7EFD32-F876-468D-23C7-B5E18E2AD37A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209FC397-4F42-3E91-1FFA-8095E8BED658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A3CBD32B-4E84-4A8F-3852-72103333C230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3E160BD-F105-1A24-C281-58ECA55B68AE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E41476A9-56D2-FEA7-445A-AC99D912A958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77BBB35C-9FD5-CDD4-BE75-2053EDC4CD1E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6C0D49-7AB1-C7A6-6EB3-E03281E7E120}"/>
              </a:ext>
            </a:extLst>
          </p:cNvPr>
          <p:cNvSpPr/>
          <p:nvPr/>
        </p:nvSpPr>
        <p:spPr>
          <a:xfrm>
            <a:off x="8306918" y="630879"/>
            <a:ext cx="2737002" cy="1853764"/>
          </a:xfrm>
          <a:prstGeom prst="rect">
            <a:avLst/>
          </a:prstGeom>
          <a:noFill/>
          <a:ln w="38100">
            <a:solidFill>
              <a:srgbClr val="FED73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E4E1E25-C677-89F0-F2D6-C4781A7B70FF}"/>
              </a:ext>
            </a:extLst>
          </p:cNvPr>
          <p:cNvSpPr/>
          <p:nvPr/>
        </p:nvSpPr>
        <p:spPr>
          <a:xfrm>
            <a:off x="8329219" y="2630845"/>
            <a:ext cx="2737002" cy="3510280"/>
          </a:xfrm>
          <a:prstGeom prst="rect">
            <a:avLst/>
          </a:prstGeom>
          <a:noFill/>
          <a:ln w="38100">
            <a:solidFill>
              <a:srgbClr val="FED73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5D3360-164E-DDDC-28FD-66821B761F46}"/>
              </a:ext>
            </a:extLst>
          </p:cNvPr>
          <p:cNvSpPr/>
          <p:nvPr/>
        </p:nvSpPr>
        <p:spPr>
          <a:xfrm>
            <a:off x="1359939" y="4125483"/>
            <a:ext cx="5151120" cy="79195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43357-26F7-98C8-7723-6B0459F9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5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F5A0-CDED-7FAA-7CCF-F430349B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03D8-DBAB-B5F5-6FD8-D606FA4E1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02D2A22B-B960-7EFC-C879-61ECB3E57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A4DEFD-6983-34A2-18C2-D9FCB2EAFFF4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E0F03-2B9E-BF8C-4618-5E600CBFDA8C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4A51A-2532-0ECD-44F7-63219EE8136F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2F18B-25DD-1F3A-F49E-DC82E17A52C5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E0E22-3143-BF98-63E8-86DD86466A74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BEDDF-43E5-C68F-5FB4-68187C39B94A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A13196-0325-CF8B-8080-535B978EBFB7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63743D-B8F2-803F-A271-7A203614D7AD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AB4A9-590D-E550-5B25-33F0396D4481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64D589-D1D4-49DA-DF9D-90BCB82D008C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3307A7-3143-29FA-E814-D4A71182FBC6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C2F6A5-1949-080B-EB4C-F968DAE191AE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584862-B317-6271-4DCA-C7279328A210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C81F43-EEDF-CD35-9777-6D93D51600AF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display_report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590D7CB-369F-7DA5-E719-4B1BA7BAE9C8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4BBE233-18AF-F306-087A-F73C93DB12A5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7538D560-0D15-66F6-6236-E7BC732672FA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305E8DB-B5CD-80DD-D83C-3A31EF583A92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1654152A-72AB-5B37-A070-9060BCCA0471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F552ADC9-048C-C852-9B90-FEEEE0898230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B6D28E-5B89-6018-9A95-F9E775E203E1}"/>
              </a:ext>
            </a:extLst>
          </p:cNvPr>
          <p:cNvSpPr/>
          <p:nvPr/>
        </p:nvSpPr>
        <p:spPr>
          <a:xfrm>
            <a:off x="1359939" y="1721445"/>
            <a:ext cx="5151120" cy="243907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1596DE-7F59-7A05-D0E0-07F6CCBD95E1}"/>
              </a:ext>
            </a:extLst>
          </p:cNvPr>
          <p:cNvSpPr/>
          <p:nvPr/>
        </p:nvSpPr>
        <p:spPr>
          <a:xfrm>
            <a:off x="8656320" y="911788"/>
            <a:ext cx="2082800" cy="622556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77FDCE-1B4C-1E70-2DA7-5BC49A235665}"/>
              </a:ext>
            </a:extLst>
          </p:cNvPr>
          <p:cNvSpPr/>
          <p:nvPr/>
        </p:nvSpPr>
        <p:spPr>
          <a:xfrm>
            <a:off x="8656320" y="1602577"/>
            <a:ext cx="2082800" cy="622556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47513C-7E75-7F03-8544-0B19D4D3C4D5}"/>
              </a:ext>
            </a:extLst>
          </p:cNvPr>
          <p:cNvSpPr/>
          <p:nvPr/>
        </p:nvSpPr>
        <p:spPr>
          <a:xfrm>
            <a:off x="8597979" y="2787230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C9548F-8CE2-6205-8744-786A891E2C98}"/>
              </a:ext>
            </a:extLst>
          </p:cNvPr>
          <p:cNvSpPr/>
          <p:nvPr/>
        </p:nvSpPr>
        <p:spPr>
          <a:xfrm>
            <a:off x="8597979" y="3505791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6F9A7B-726E-F565-BD9C-565C516761BF}"/>
              </a:ext>
            </a:extLst>
          </p:cNvPr>
          <p:cNvSpPr/>
          <p:nvPr/>
        </p:nvSpPr>
        <p:spPr>
          <a:xfrm>
            <a:off x="8597979" y="4662408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5C2F51-25CE-3E02-D0A2-56903D7A58B4}"/>
              </a:ext>
            </a:extLst>
          </p:cNvPr>
          <p:cNvSpPr/>
          <p:nvPr/>
        </p:nvSpPr>
        <p:spPr>
          <a:xfrm>
            <a:off x="8597979" y="5329209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F42E74D-F52F-5036-D802-DBF5EAAA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4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94B82-A38E-EAE2-31A3-6DBDE2A2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9279-4F0B-106D-C719-E36A33338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914400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A calculator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443A0-0497-7438-7386-6951EC44863A}"/>
              </a:ext>
            </a:extLst>
          </p:cNvPr>
          <p:cNvSpPr txBox="1"/>
          <p:nvPr/>
        </p:nvSpPr>
        <p:spPr>
          <a:xfrm>
            <a:off x="451909" y="6077247"/>
            <a:ext cx="92250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cs typeface="Calibri"/>
              </a:rPr>
              <a:t>Source: </a:t>
            </a:r>
            <a:r>
              <a:rPr lang="en-US" sz="1100" i="1" dirty="0">
                <a:solidFill>
                  <a:srgbClr val="5F826B"/>
                </a:solidFill>
                <a:latin typeface="Consolas"/>
                <a:ea typeface="+mn-lt"/>
                <a:cs typeface="+mn-lt"/>
                <a:hlinkClick r:id="rId2"/>
              </a:rPr>
              <a:t>https://www.testingdocs.com/junit-calculator-test-case-example/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cs typeface="Calibri"/>
              </a:rPr>
              <a:t>Source: </a:t>
            </a:r>
            <a:r>
              <a:rPr lang="en-US" sz="1100" i="1" dirty="0">
                <a:solidFill>
                  <a:srgbClr val="5F826B"/>
                </a:solidFill>
                <a:latin typeface="Consolas"/>
                <a:ea typeface="+mn-lt"/>
                <a:cs typeface="+mn-lt"/>
                <a:hlinkClick r:id="rId3"/>
              </a:rPr>
              <a:t>https://www.youtube.com/watch?v=vZm0lHciFsQ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5AEBAC0-A6D2-0BEF-3758-20A25690932B}"/>
              </a:ext>
            </a:extLst>
          </p:cNvPr>
          <p:cNvSpPr txBox="1">
            <a:spLocks/>
          </p:cNvSpPr>
          <p:nvPr/>
        </p:nvSpPr>
        <p:spPr>
          <a:xfrm>
            <a:off x="351431" y="1243324"/>
            <a:ext cx="8884009" cy="35844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Assume you have a Calculator class</a:t>
            </a:r>
          </a:p>
          <a:p>
            <a:pPr marL="342900" indent="-342900">
              <a:buChar char="•"/>
            </a:pPr>
            <a:endParaRPr lang="en-US" sz="2000" b="0" dirty="0">
              <a:solidFill>
                <a:schemeClr val="tx1"/>
              </a:solidFill>
              <a:latin typeface="AmericanSans"/>
            </a:endParaRPr>
          </a:p>
          <a:p>
            <a:pPr marL="342900" indent="-342900">
              <a:buChar char="•"/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The function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add(a, b)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is implemented with unit tests.</a:t>
            </a: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  <a:hlinkClick r:id="rId4"/>
              </a:rPr>
              <a:t>https://github.com/sefop/training-testing-python/blob/main/src/calculator.py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</a:t>
            </a:r>
          </a:p>
          <a:p>
            <a:endParaRPr lang="en-US" sz="2000" dirty="0">
              <a:solidFill>
                <a:schemeClr val="tx1"/>
              </a:solidFill>
              <a:latin typeface="AmericanSans"/>
            </a:endParaRPr>
          </a:p>
          <a:p>
            <a:pPr marL="342900" indent="-342900">
              <a:buChar char="•"/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Let’s understand: </a:t>
            </a:r>
            <a:r>
              <a:rPr lang="en-US" sz="2000" dirty="0">
                <a:solidFill>
                  <a:schemeClr val="tx1"/>
                </a:solidFill>
                <a:latin typeface="AmericanSans"/>
              </a:rPr>
              <a:t>what, where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and</a:t>
            </a:r>
            <a:r>
              <a:rPr lang="en-US" sz="2000" dirty="0">
                <a:solidFill>
                  <a:schemeClr val="tx1"/>
                </a:solidFill>
                <a:latin typeface="AmericanSans"/>
              </a:rPr>
              <a:t> how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this was done.</a:t>
            </a:r>
          </a:p>
        </p:txBody>
      </p:sp>
      <p:pic>
        <p:nvPicPr>
          <p:cNvPr id="6" name="Graphic 5" descr="Calculator with solid fill">
            <a:extLst>
              <a:ext uri="{FF2B5EF4-FFF2-40B4-BE49-F238E27FC236}">
                <a16:creationId xmlns:a16="http://schemas.microsoft.com/office/drawing/2014/main" id="{8FDA7BDA-691E-2841-21C1-5E87DC44C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67" y="1063733"/>
            <a:ext cx="3975571" cy="39436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20CDD-32C2-8C9C-BC9C-7F3D9303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15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6D09-141A-918B-8F4C-A4C8B7E3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DA08-D866-EB0F-1FA3-B45D552B0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914400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Example: 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F37D54-E061-B257-CB90-3B349868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FC760C-9252-0167-B6B5-CCAFAE1C4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05802"/>
            <a:ext cx="5554448" cy="602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2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B39E-C943-D0E7-4CC4-F3FC59DD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668FAC-BB13-D76F-0867-BA3D3F08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B1ED21-2466-345B-57F5-B30081772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05802"/>
            <a:ext cx="5554448" cy="60224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094C70-05F1-80F8-5448-B93A1520B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9416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Definition: a module has an </a:t>
            </a:r>
            <a:r>
              <a:rPr lang="en-US" sz="3600" b="1" dirty="0">
                <a:solidFill>
                  <a:srgbClr val="FF0000"/>
                </a:solidFill>
              </a:rPr>
              <a:t>interface</a:t>
            </a:r>
            <a:r>
              <a:rPr lang="en-US" sz="3600" dirty="0"/>
              <a:t> and an </a:t>
            </a:r>
            <a:r>
              <a:rPr lang="en-US" sz="3600" b="1" dirty="0">
                <a:solidFill>
                  <a:srgbClr val="5959EB"/>
                </a:solidFill>
              </a:rP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C2E7C8-F583-E9BE-FBFE-563A165210EF}"/>
              </a:ext>
            </a:extLst>
          </p:cNvPr>
          <p:cNvSpPr/>
          <p:nvPr/>
        </p:nvSpPr>
        <p:spPr>
          <a:xfrm>
            <a:off x="91440" y="705802"/>
            <a:ext cx="5554448" cy="2885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31AD-57ED-2B37-ACC9-84E4B4610FF8}"/>
              </a:ext>
            </a:extLst>
          </p:cNvPr>
          <p:cNvSpPr/>
          <p:nvPr/>
        </p:nvSpPr>
        <p:spPr>
          <a:xfrm>
            <a:off x="91441" y="3623852"/>
            <a:ext cx="5554448" cy="3104355"/>
          </a:xfrm>
          <a:prstGeom prst="rect">
            <a:avLst/>
          </a:prstGeom>
          <a:noFill/>
          <a:ln w="38100"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55AB6F0-C0CC-6DDE-8E4E-7A00E7543E74}"/>
              </a:ext>
            </a:extLst>
          </p:cNvPr>
          <p:cNvSpPr txBox="1">
            <a:spLocks/>
          </p:cNvSpPr>
          <p:nvPr/>
        </p:nvSpPr>
        <p:spPr>
          <a:xfrm>
            <a:off x="5938520" y="983682"/>
            <a:ext cx="6103089" cy="26012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This is the </a:t>
            </a:r>
            <a:r>
              <a:rPr lang="en-US" sz="200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(“signature”, “API”, “contract” or “abstraction”) of the module. Specifies to its </a:t>
            </a:r>
            <a:r>
              <a:rPr lang="en-US" sz="2400" dirty="0">
                <a:solidFill>
                  <a:srgbClr val="00B050"/>
                </a:solidFill>
                <a:latin typeface="AmericanSans"/>
              </a:rPr>
              <a:t>clients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what it does, inputs conditions and outputs. 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Design best practice: it </a:t>
            </a:r>
            <a:r>
              <a:rPr lang="en-US" sz="2000" b="0" u="sng" dirty="0">
                <a:solidFill>
                  <a:schemeClr val="tx1"/>
                </a:solidFill>
                <a:latin typeface="AmericanSans"/>
              </a:rPr>
              <a:t>should not specify how the contract is implemented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Note: comments are an integral part of the </a:t>
            </a:r>
            <a:r>
              <a:rPr lang="en-US" sz="200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.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A3EDC71-FB5E-7754-05F6-E9B3E148AB74}"/>
              </a:ext>
            </a:extLst>
          </p:cNvPr>
          <p:cNvSpPr txBox="1">
            <a:spLocks/>
          </p:cNvSpPr>
          <p:nvPr/>
        </p:nvSpPr>
        <p:spPr>
          <a:xfrm>
            <a:off x="5938520" y="4029739"/>
            <a:ext cx="5847080" cy="21903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This is the </a:t>
            </a:r>
            <a:r>
              <a:rPr lang="en-US" sz="2000" dirty="0">
                <a:solidFill>
                  <a:srgbClr val="5959EB"/>
                </a:solidFill>
                <a:latin typeface="AmericanSans"/>
              </a:rPr>
              <a:t>implementation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of the module. Also called “implementation details”.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There could be many </a:t>
            </a:r>
            <a:r>
              <a:rPr lang="en-US" sz="2000" dirty="0">
                <a:solidFill>
                  <a:srgbClr val="5959EB"/>
                </a:solidFill>
                <a:latin typeface="AmericanSans"/>
              </a:rPr>
              <a:t>implementations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for a single </a:t>
            </a:r>
            <a:r>
              <a:rPr lang="en-US" sz="200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Design best practice: it </a:t>
            </a:r>
            <a:r>
              <a:rPr lang="en-US" sz="2000" b="0" u="sng" dirty="0">
                <a:solidFill>
                  <a:schemeClr val="tx1"/>
                </a:solidFill>
                <a:latin typeface="AmericanSans"/>
              </a:rPr>
              <a:t>should be hidden from the </a:t>
            </a:r>
            <a:r>
              <a:rPr lang="en-US" sz="2400" u="sng" dirty="0">
                <a:solidFill>
                  <a:srgbClr val="00B050"/>
                </a:solidFill>
                <a:latin typeface="AmericanSans"/>
              </a:rPr>
              <a:t>clients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64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62A6-3905-46D7-2377-E74A206C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34BB0C-4EFC-B338-EC15-6AEAB925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F116E8-FA1E-DACF-DAE0-94BCB0D1A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9416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An outlet providing power is an </a:t>
            </a:r>
            <a:r>
              <a:rPr lang="en-US" sz="3600" b="1" dirty="0"/>
              <a:t>abstraction</a:t>
            </a:r>
            <a:r>
              <a:rPr lang="en-US" sz="3600" dirty="0"/>
              <a:t> of an electricity service</a:t>
            </a:r>
          </a:p>
        </p:txBody>
      </p:sp>
      <p:pic>
        <p:nvPicPr>
          <p:cNvPr id="2" name="Picture 1" descr="How Much Draw from a Single Outlet? | Promise Electric - Sarasota, FL">
            <a:extLst>
              <a:ext uri="{FF2B5EF4-FFF2-40B4-BE49-F238E27FC236}">
                <a16:creationId xmlns:a16="http://schemas.microsoft.com/office/drawing/2014/main" id="{0DFDA07E-B26E-8330-9655-575233A24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63" y="2119189"/>
            <a:ext cx="5415226" cy="3617202"/>
          </a:xfrm>
          <a:prstGeom prst="rect">
            <a:avLst/>
          </a:prstGeom>
        </p:spPr>
      </p:pic>
      <p:pic>
        <p:nvPicPr>
          <p:cNvPr id="4" name="Picture 3" descr="How Receptacles work (US/CAN) - The Engineering Mindset">
            <a:extLst>
              <a:ext uri="{FF2B5EF4-FFF2-40B4-BE49-F238E27FC236}">
                <a16:creationId xmlns:a16="http://schemas.microsoft.com/office/drawing/2014/main" id="{C29B3DD7-372D-F8A3-9FAB-AE85DF7C8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2119189"/>
            <a:ext cx="6290786" cy="3617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6B435E-CECA-D667-781C-948CCCA8FD0F}"/>
              </a:ext>
            </a:extLst>
          </p:cNvPr>
          <p:cNvSpPr txBox="1"/>
          <p:nvPr/>
        </p:nvSpPr>
        <p:spPr>
          <a:xfrm>
            <a:off x="91440" y="1481958"/>
            <a:ext cx="6290785" cy="461665"/>
          </a:xfrm>
          <a:prstGeom prst="rect">
            <a:avLst/>
          </a:prstGeom>
          <a:solidFill>
            <a:srgbClr val="5959E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821DC-2D4A-75B9-642B-6CBBC82BB7BB}"/>
              </a:ext>
            </a:extLst>
          </p:cNvPr>
          <p:cNvSpPr txBox="1"/>
          <p:nvPr/>
        </p:nvSpPr>
        <p:spPr>
          <a:xfrm>
            <a:off x="6463864" y="1481958"/>
            <a:ext cx="260656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2884A-BFC5-2902-249F-0EF43C7560E6}"/>
              </a:ext>
            </a:extLst>
          </p:cNvPr>
          <p:cNvSpPr txBox="1"/>
          <p:nvPr/>
        </p:nvSpPr>
        <p:spPr>
          <a:xfrm>
            <a:off x="9171476" y="1481957"/>
            <a:ext cx="2606564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Clients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D8B54-94CC-EBA6-44FA-249254981F96}"/>
              </a:ext>
            </a:extLst>
          </p:cNvPr>
          <p:cNvSpPr/>
          <p:nvPr/>
        </p:nvSpPr>
        <p:spPr>
          <a:xfrm>
            <a:off x="6424713" y="1388821"/>
            <a:ext cx="2707613" cy="441063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9D38D-A513-97A3-AC8D-037D1B81A0A2}"/>
              </a:ext>
            </a:extLst>
          </p:cNvPr>
          <p:cNvSpPr txBox="1"/>
          <p:nvPr/>
        </p:nvSpPr>
        <p:spPr>
          <a:xfrm>
            <a:off x="7022858" y="906282"/>
            <a:ext cx="1587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To be tested</a:t>
            </a:r>
          </a:p>
        </p:txBody>
      </p:sp>
    </p:spTree>
    <p:extLst>
      <p:ext uri="{BB962C8B-B14F-4D97-AF65-F5344CB8AC3E}">
        <p14:creationId xmlns:p14="http://schemas.microsoft.com/office/powerpoint/2010/main" val="337724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2266-A326-8DE5-3554-2ED08C1C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D0F464-22C1-6F0C-42B2-88B4C052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C0719-0646-55A7-9E9A-D96E0949A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05802"/>
            <a:ext cx="5554448" cy="60224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D47AE4-9BCF-F0B1-FF81-73E53261A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9416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What</a:t>
            </a:r>
            <a:r>
              <a:rPr lang="en-US" sz="3600" dirty="0"/>
              <a:t> to test? The “</a:t>
            </a:r>
            <a:r>
              <a:rPr lang="en-US" sz="3600" b="1" dirty="0"/>
              <a:t>behaviors”</a:t>
            </a:r>
            <a:r>
              <a:rPr lang="en-US" sz="3600" dirty="0"/>
              <a:t> of the </a:t>
            </a:r>
            <a:r>
              <a:rPr lang="en-US" sz="3600" b="1" dirty="0">
                <a:solidFill>
                  <a:srgbClr val="FF0000"/>
                </a:solidFill>
              </a:rPr>
              <a:t>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B0B4D0-EFA5-2258-BC0A-5BD28A967985}"/>
              </a:ext>
            </a:extLst>
          </p:cNvPr>
          <p:cNvSpPr/>
          <p:nvPr/>
        </p:nvSpPr>
        <p:spPr>
          <a:xfrm>
            <a:off x="91440" y="705802"/>
            <a:ext cx="5554448" cy="2885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AD713-07B7-6B59-5D25-77D632141761}"/>
              </a:ext>
            </a:extLst>
          </p:cNvPr>
          <p:cNvSpPr/>
          <p:nvPr/>
        </p:nvSpPr>
        <p:spPr>
          <a:xfrm>
            <a:off x="91441" y="3623852"/>
            <a:ext cx="5554448" cy="3104355"/>
          </a:xfrm>
          <a:prstGeom prst="rect">
            <a:avLst/>
          </a:prstGeom>
          <a:noFill/>
          <a:ln w="38100"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4CE1DA-FBFF-56FE-1996-D9ACF0DD156A}"/>
              </a:ext>
            </a:extLst>
          </p:cNvPr>
          <p:cNvSpPr txBox="1">
            <a:spLocks/>
          </p:cNvSpPr>
          <p:nvPr/>
        </p:nvSpPr>
        <p:spPr>
          <a:xfrm>
            <a:off x="5938519" y="754006"/>
            <a:ext cx="6001843" cy="59742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An </a:t>
            </a:r>
            <a:r>
              <a:rPr lang="en-US" sz="2000" noProof="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 has 1 or more </a:t>
            </a:r>
            <a:r>
              <a:rPr lang="en-US" sz="2000" noProof="0" dirty="0">
                <a:solidFill>
                  <a:schemeClr val="tx1"/>
                </a:solidFill>
                <a:latin typeface="AmericanSans"/>
              </a:rPr>
              <a:t>behaviors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, on this case:</a:t>
            </a:r>
            <a:endParaRPr lang="en-US" sz="20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1. Base case or “happy path”:</a:t>
            </a:r>
          </a:p>
          <a:p>
            <a:pPr algn="ctr"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add(3,4) = 7</a:t>
            </a:r>
          </a:p>
          <a:p>
            <a:pPr algn="ctr">
              <a:lnSpc>
                <a:spcPct val="100000"/>
              </a:lnSpc>
            </a:pPr>
            <a:endParaRPr lang="en-US" sz="11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u="sng" dirty="0">
                <a:solidFill>
                  <a:schemeClr val="tx1"/>
                </a:solidFill>
                <a:latin typeface="AmericanSans"/>
              </a:rPr>
              <a:t>2. </a:t>
            </a: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Commutativity: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add(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3,4)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= add(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4,3)</a:t>
            </a:r>
          </a:p>
          <a:p>
            <a:pPr algn="ctr">
              <a:lnSpc>
                <a:spcPct val="100000"/>
              </a:lnSpc>
            </a:pPr>
            <a:endParaRPr lang="en-US" sz="11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3. Identity: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add(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3,0) = 3</a:t>
            </a:r>
          </a:p>
          <a:p>
            <a:pPr algn="ctr">
              <a:lnSpc>
                <a:spcPct val="100000"/>
              </a:lnSpc>
            </a:pPr>
            <a:endParaRPr lang="en-US" sz="11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4. Exceptions:</a:t>
            </a:r>
          </a:p>
          <a:p>
            <a:pPr algn="ctr"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Input error</a:t>
            </a:r>
          </a:p>
          <a:p>
            <a:pPr algn="ctr"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Arithmetic over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flow error</a:t>
            </a:r>
            <a:endParaRPr lang="en-US" sz="20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endParaRPr lang="en-US" sz="2000" noProof="0" dirty="0">
              <a:solidFill>
                <a:schemeClr val="tx1"/>
              </a:solidFill>
              <a:latin typeface="AmericanSans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27FFE8A9-250D-7EF4-7C7F-648D1DA8E336}"/>
              </a:ext>
            </a:extLst>
          </p:cNvPr>
          <p:cNvSpPr/>
          <p:nvPr/>
        </p:nvSpPr>
        <p:spPr>
          <a:xfrm>
            <a:off x="10520855" y="3429000"/>
            <a:ext cx="1579704" cy="1166647"/>
          </a:xfrm>
          <a:prstGeom prst="wedgeRectCallout">
            <a:avLst>
              <a:gd name="adj1" fmla="val -65586"/>
              <a:gd name="adj2" fmla="val -28698"/>
            </a:avLst>
          </a:prstGeom>
          <a:solidFill>
            <a:srgbClr val="F8F7C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Each behavior may have 1 or multiple ‘cases’</a:t>
            </a:r>
          </a:p>
        </p:txBody>
      </p:sp>
    </p:spTree>
    <p:extLst>
      <p:ext uri="{BB962C8B-B14F-4D97-AF65-F5344CB8AC3E}">
        <p14:creationId xmlns:p14="http://schemas.microsoft.com/office/powerpoint/2010/main" val="4024351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FFF196-562C-67A0-DD9E-4D1E7C25C506}"/>
              </a:ext>
            </a:extLst>
          </p:cNvPr>
          <p:cNvCxnSpPr>
            <a:cxnSpLocks/>
          </p:cNvCxnSpPr>
          <p:nvPr/>
        </p:nvCxnSpPr>
        <p:spPr>
          <a:xfrm>
            <a:off x="1150004" y="4581168"/>
            <a:ext cx="10394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22DFD4-8A3C-DF61-BA18-CB1D81E3E004}"/>
              </a:ext>
            </a:extLst>
          </p:cNvPr>
          <p:cNvCxnSpPr>
            <a:cxnSpLocks/>
          </p:cNvCxnSpPr>
          <p:nvPr/>
        </p:nvCxnSpPr>
        <p:spPr>
          <a:xfrm>
            <a:off x="2692155" y="4944052"/>
            <a:ext cx="0" cy="558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2FABEA7-3B38-353B-10CC-786F35568EBA}"/>
              </a:ext>
            </a:extLst>
          </p:cNvPr>
          <p:cNvSpPr txBox="1">
            <a:spLocks/>
          </p:cNvSpPr>
          <p:nvPr/>
        </p:nvSpPr>
        <p:spPr>
          <a:xfrm>
            <a:off x="91440" y="132079"/>
            <a:ext cx="11755120" cy="63470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Where </a:t>
            </a:r>
            <a:r>
              <a:rPr lang="en-US" sz="3200" dirty="0"/>
              <a:t>to place the tests? In the mirror ‘test’ folder</a:t>
            </a:r>
            <a:endParaRPr lang="en-US" sz="3200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72B2D0-4865-9486-3916-BA74333A4DAA}"/>
              </a:ext>
            </a:extLst>
          </p:cNvPr>
          <p:cNvCxnSpPr/>
          <p:nvPr/>
        </p:nvCxnSpPr>
        <p:spPr>
          <a:xfrm>
            <a:off x="2736015" y="3106103"/>
            <a:ext cx="0" cy="572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Graphic 3" descr="Folder with solid fill">
            <a:extLst>
              <a:ext uri="{FF2B5EF4-FFF2-40B4-BE49-F238E27FC236}">
                <a16:creationId xmlns:a16="http://schemas.microsoft.com/office/drawing/2014/main" id="{58E821F5-AAC2-E70E-736C-C11DB4F12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4450" y="2050720"/>
            <a:ext cx="1403131" cy="1403131"/>
          </a:xfrm>
          <a:prstGeom prst="rect">
            <a:avLst/>
          </a:prstGeom>
        </p:spPr>
      </p:pic>
      <p:pic>
        <p:nvPicPr>
          <p:cNvPr id="6" name="Graphic 5" descr="Folder with solid fill">
            <a:extLst>
              <a:ext uri="{FF2B5EF4-FFF2-40B4-BE49-F238E27FC236}">
                <a16:creationId xmlns:a16="http://schemas.microsoft.com/office/drawing/2014/main" id="{BA3016A1-7A09-9A67-A9DC-C2BEBCF2C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4450" y="3873924"/>
            <a:ext cx="1403131" cy="1403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9223BB-1273-BED3-033D-F7F678B90E30}"/>
              </a:ext>
            </a:extLst>
          </p:cNvPr>
          <p:cNvSpPr txBox="1"/>
          <p:nvPr/>
        </p:nvSpPr>
        <p:spPr>
          <a:xfrm>
            <a:off x="3437581" y="2521452"/>
            <a:ext cx="594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src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9D81E8-46D1-8D6F-5053-3AAE1F0D95DB}"/>
              </a:ext>
            </a:extLst>
          </p:cNvPr>
          <p:cNvSpPr txBox="1"/>
          <p:nvPr/>
        </p:nvSpPr>
        <p:spPr>
          <a:xfrm>
            <a:off x="3437580" y="4344656"/>
            <a:ext cx="83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C4D99-F38F-6719-DA94-233262219B84}"/>
              </a:ext>
            </a:extLst>
          </p:cNvPr>
          <p:cNvSpPr txBox="1"/>
          <p:nvPr/>
        </p:nvSpPr>
        <p:spPr>
          <a:xfrm>
            <a:off x="4031590" y="3448172"/>
            <a:ext cx="190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calculator.py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CAE764-DE61-3E90-38A4-6BB94C63A2D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736015" y="3679005"/>
            <a:ext cx="1295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65F460-8CDA-DA6B-B565-08791FC86834}"/>
              </a:ext>
            </a:extLst>
          </p:cNvPr>
          <p:cNvSpPr txBox="1"/>
          <p:nvPr/>
        </p:nvSpPr>
        <p:spPr>
          <a:xfrm>
            <a:off x="4031590" y="5271379"/>
            <a:ext cx="2553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test_calculator.py</a:t>
            </a:r>
          </a:p>
        </p:txBody>
      </p:sp>
      <p:pic>
        <p:nvPicPr>
          <p:cNvPr id="32" name="Graphic 31" descr="Folder with solid fill">
            <a:extLst>
              <a:ext uri="{FF2B5EF4-FFF2-40B4-BE49-F238E27FC236}">
                <a16:creationId xmlns:a16="http://schemas.microsoft.com/office/drawing/2014/main" id="{3F0BC09B-B06C-F8F6-946A-C9CF6CCE3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439" y="873699"/>
            <a:ext cx="1403131" cy="140313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F61DFA6-D79B-312C-7675-4AAB4669C36D}"/>
              </a:ext>
            </a:extLst>
          </p:cNvPr>
          <p:cNvSpPr txBox="1"/>
          <p:nvPr/>
        </p:nvSpPr>
        <p:spPr>
          <a:xfrm>
            <a:off x="2034450" y="1394134"/>
            <a:ext cx="3381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root folder of the project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1232DC-A3DE-B984-928C-544CFA90FD0E}"/>
              </a:ext>
            </a:extLst>
          </p:cNvPr>
          <p:cNvCxnSpPr>
            <a:cxnSpLocks/>
          </p:cNvCxnSpPr>
          <p:nvPr/>
        </p:nvCxnSpPr>
        <p:spPr>
          <a:xfrm>
            <a:off x="1150004" y="1855799"/>
            <a:ext cx="0" cy="27253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1E0CFCE-34CD-B26C-67AF-7E02287DEDDC}"/>
              </a:ext>
            </a:extLst>
          </p:cNvPr>
          <p:cNvCxnSpPr>
            <a:cxnSpLocks/>
          </p:cNvCxnSpPr>
          <p:nvPr/>
        </p:nvCxnSpPr>
        <p:spPr>
          <a:xfrm>
            <a:off x="1150004" y="2773689"/>
            <a:ext cx="10394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ight Brace 38">
            <a:extLst>
              <a:ext uri="{FF2B5EF4-FFF2-40B4-BE49-F238E27FC236}">
                <a16:creationId xmlns:a16="http://schemas.microsoft.com/office/drawing/2014/main" id="{E834B6C6-C3EE-A6F1-8E0B-446E6F47CC3F}"/>
              </a:ext>
            </a:extLst>
          </p:cNvPr>
          <p:cNvSpPr/>
          <p:nvPr/>
        </p:nvSpPr>
        <p:spPr>
          <a:xfrm>
            <a:off x="6725920" y="2123440"/>
            <a:ext cx="507600" cy="1910080"/>
          </a:xfrm>
          <a:prstGeom prst="rightBrace">
            <a:avLst/>
          </a:prstGeom>
          <a:ln w="38100">
            <a:solidFill>
              <a:srgbClr val="5959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3E1B9888-0D11-0648-D371-3896B6DCAF62}"/>
              </a:ext>
            </a:extLst>
          </p:cNvPr>
          <p:cNvSpPr/>
          <p:nvPr/>
        </p:nvSpPr>
        <p:spPr>
          <a:xfrm>
            <a:off x="6725920" y="4124960"/>
            <a:ext cx="507600" cy="1717040"/>
          </a:xfrm>
          <a:prstGeom prst="rightBrace">
            <a:avLst/>
          </a:prstGeom>
          <a:ln w="38100"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853927-9B5B-F78D-7522-72AC98CAF930}"/>
              </a:ext>
            </a:extLst>
          </p:cNvPr>
          <p:cNvSpPr txBox="1"/>
          <p:nvPr/>
        </p:nvSpPr>
        <p:spPr>
          <a:xfrm>
            <a:off x="7439570" y="2847647"/>
            <a:ext cx="2376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Production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B5C723-A7EE-B895-3864-9077CC2E8E94}"/>
              </a:ext>
            </a:extLst>
          </p:cNvPr>
          <p:cNvSpPr txBox="1"/>
          <p:nvPr/>
        </p:nvSpPr>
        <p:spPr>
          <a:xfrm>
            <a:off x="7439569" y="4713219"/>
            <a:ext cx="1838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Testing code</a:t>
            </a:r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C758256A-D1AC-E576-5683-6DB1CD8D460E}"/>
              </a:ext>
            </a:extLst>
          </p:cNvPr>
          <p:cNvSpPr/>
          <p:nvPr/>
        </p:nvSpPr>
        <p:spPr>
          <a:xfrm>
            <a:off x="9450821" y="991940"/>
            <a:ext cx="2142075" cy="1166647"/>
          </a:xfrm>
          <a:prstGeom prst="wedgeRectCallout">
            <a:avLst>
              <a:gd name="adj1" fmla="val -66881"/>
              <a:gd name="adj2" fmla="val -18248"/>
            </a:avLst>
          </a:prstGeom>
          <a:solidFill>
            <a:srgbClr val="F8F7C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This is for Python. In other languages it is slightly different.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632A169-3ED1-4E60-D865-FBAD52753409}"/>
              </a:ext>
            </a:extLst>
          </p:cNvPr>
          <p:cNvCxnSpPr>
            <a:cxnSpLocks/>
          </p:cNvCxnSpPr>
          <p:nvPr/>
        </p:nvCxnSpPr>
        <p:spPr>
          <a:xfrm>
            <a:off x="2692155" y="5502212"/>
            <a:ext cx="1295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449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455A9-9C0C-4C42-FA1E-8874E6E0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203F-A263-DD72-A819-E7EF7BDA5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200912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Typical structure of a unit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95AC95-00C8-512A-4167-D2D6963C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8406C-410F-7BC0-07CB-0A92D9898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72" y="1728024"/>
            <a:ext cx="10512721" cy="40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0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A2248-1766-88F5-37A1-A31AADF0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13CF-50AF-59DA-B6CF-DB50B73C2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200912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Name structure </a:t>
            </a:r>
            <a:r>
              <a:rPr lang="en-US" sz="3600" dirty="0"/>
              <a:t>of a unit test &amp; the </a:t>
            </a:r>
            <a:r>
              <a:rPr lang="en-US" sz="3600" b="1" dirty="0"/>
              <a:t>AAA pattern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0EE01-64B5-CF50-BA0C-EAF74030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9D6F3-1238-814A-370F-1E03E13F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72" y="1728024"/>
            <a:ext cx="10512721" cy="4060796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D3412C99-2D44-9F4C-3794-C3638474EB21}"/>
              </a:ext>
            </a:extLst>
          </p:cNvPr>
          <p:cNvSpPr/>
          <p:nvPr/>
        </p:nvSpPr>
        <p:spPr>
          <a:xfrm rot="16200000">
            <a:off x="2308425" y="1200983"/>
            <a:ext cx="266859" cy="887175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F18EF11-DFCE-819B-D292-75DB6D6017BE}"/>
              </a:ext>
            </a:extLst>
          </p:cNvPr>
          <p:cNvSpPr/>
          <p:nvPr/>
        </p:nvSpPr>
        <p:spPr>
          <a:xfrm rot="16200000">
            <a:off x="4333312" y="161616"/>
            <a:ext cx="266859" cy="2965909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4E0876B-A758-B716-9B74-931F396616A2}"/>
              </a:ext>
            </a:extLst>
          </p:cNvPr>
          <p:cNvSpPr/>
          <p:nvPr/>
        </p:nvSpPr>
        <p:spPr>
          <a:xfrm rot="16200000">
            <a:off x="7541435" y="212009"/>
            <a:ext cx="266859" cy="286512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EB99D-7690-245E-F25F-25EA2F6B08C1}"/>
              </a:ext>
            </a:extLst>
          </p:cNvPr>
          <p:cNvSpPr txBox="1"/>
          <p:nvPr/>
        </p:nvSpPr>
        <p:spPr>
          <a:xfrm>
            <a:off x="1849384" y="986080"/>
            <a:ext cx="1184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F22A6-10CD-04AA-8ED0-43EBC5465A32}"/>
              </a:ext>
            </a:extLst>
          </p:cNvPr>
          <p:cNvSpPr txBox="1"/>
          <p:nvPr/>
        </p:nvSpPr>
        <p:spPr>
          <a:xfrm>
            <a:off x="3361300" y="986080"/>
            <a:ext cx="2308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Behavior &amp; case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B2D2CF-8362-4AAC-F5D3-6F970188E501}"/>
              </a:ext>
            </a:extLst>
          </p:cNvPr>
          <p:cNvSpPr txBox="1"/>
          <p:nvPr/>
        </p:nvSpPr>
        <p:spPr>
          <a:xfrm>
            <a:off x="6552249" y="986080"/>
            <a:ext cx="2245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Expected result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A8C41BB-01B3-AB27-CA0B-057EC82FFAD5}"/>
              </a:ext>
            </a:extLst>
          </p:cNvPr>
          <p:cNvSpPr/>
          <p:nvPr/>
        </p:nvSpPr>
        <p:spPr>
          <a:xfrm>
            <a:off x="4515367" y="2267624"/>
            <a:ext cx="259834" cy="993736"/>
          </a:xfrm>
          <a:prstGeom prst="rightBrac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A5880-6EF0-5EE3-9715-659046D788A3}"/>
              </a:ext>
            </a:extLst>
          </p:cNvPr>
          <p:cNvSpPr txBox="1"/>
          <p:nvPr/>
        </p:nvSpPr>
        <p:spPr>
          <a:xfrm>
            <a:off x="5027007" y="2533659"/>
            <a:ext cx="1907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Setup phase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E7DC9222-A21A-6331-C231-5492FB828F89}"/>
              </a:ext>
            </a:extLst>
          </p:cNvPr>
          <p:cNvSpPr/>
          <p:nvPr/>
        </p:nvSpPr>
        <p:spPr>
          <a:xfrm>
            <a:off x="6612550" y="3750983"/>
            <a:ext cx="259834" cy="993736"/>
          </a:xfrm>
          <a:prstGeom prst="rightBrac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92A7A8-D168-78A8-0468-22472B488F15}"/>
              </a:ext>
            </a:extLst>
          </p:cNvPr>
          <p:cNvSpPr txBox="1"/>
          <p:nvPr/>
        </p:nvSpPr>
        <p:spPr>
          <a:xfrm>
            <a:off x="6991193" y="4017018"/>
            <a:ext cx="2634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Perform the action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03FDB1A-B893-D180-5535-4A23141FF8BD}"/>
              </a:ext>
            </a:extLst>
          </p:cNvPr>
          <p:cNvSpPr/>
          <p:nvPr/>
        </p:nvSpPr>
        <p:spPr>
          <a:xfrm>
            <a:off x="9982200" y="5078849"/>
            <a:ext cx="259834" cy="993736"/>
          </a:xfrm>
          <a:prstGeom prst="rightBrac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29111F-44A3-8208-BBF1-A1AC1430F71E}"/>
              </a:ext>
            </a:extLst>
          </p:cNvPr>
          <p:cNvSpPr txBox="1"/>
          <p:nvPr/>
        </p:nvSpPr>
        <p:spPr>
          <a:xfrm>
            <a:off x="10275399" y="5160218"/>
            <a:ext cx="1984548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Assert expectations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B1896710-B061-E3BE-05BC-A8EAD274D7CE}"/>
              </a:ext>
            </a:extLst>
          </p:cNvPr>
          <p:cNvSpPr/>
          <p:nvPr/>
        </p:nvSpPr>
        <p:spPr>
          <a:xfrm>
            <a:off x="3581401" y="5880970"/>
            <a:ext cx="2128344" cy="475380"/>
          </a:xfrm>
          <a:prstGeom prst="wedgeRectCallout">
            <a:avLst>
              <a:gd name="adj1" fmla="val -13364"/>
              <a:gd name="adj2" fmla="val -84533"/>
            </a:avLst>
          </a:prstGeom>
          <a:solidFill>
            <a:srgbClr val="F8F7C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Library for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60548-9E03-81A4-BB3D-816FEBABA180}"/>
              </a:ext>
            </a:extLst>
          </p:cNvPr>
          <p:cNvSpPr txBox="1"/>
          <p:nvPr/>
        </p:nvSpPr>
        <p:spPr>
          <a:xfrm>
            <a:off x="8610600" y="2620809"/>
            <a:ext cx="184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AAA pattern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025CB-6A21-2AC0-70CD-EB4CE9870492}"/>
              </a:ext>
            </a:extLst>
          </p:cNvPr>
          <p:cNvCxnSpPr/>
          <p:nvPr/>
        </p:nvCxnSpPr>
        <p:spPr>
          <a:xfrm flipH="1">
            <a:off x="7283669" y="2851641"/>
            <a:ext cx="1187669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507A85-C0A6-D7DD-EE8E-303D4D9EA5EA}"/>
              </a:ext>
            </a:extLst>
          </p:cNvPr>
          <p:cNvCxnSpPr>
            <a:cxnSpLocks/>
          </p:cNvCxnSpPr>
          <p:nvPr/>
        </p:nvCxnSpPr>
        <p:spPr>
          <a:xfrm flipH="1">
            <a:off x="8471338" y="3166952"/>
            <a:ext cx="811924" cy="59147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871137-5A17-AB6E-A0EC-5F327B172434}"/>
              </a:ext>
            </a:extLst>
          </p:cNvPr>
          <p:cNvCxnSpPr>
            <a:cxnSpLocks/>
          </p:cNvCxnSpPr>
          <p:nvPr/>
        </p:nvCxnSpPr>
        <p:spPr>
          <a:xfrm>
            <a:off x="9787759" y="3193456"/>
            <a:ext cx="504497" cy="150211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31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9A681-3645-65CA-EE40-1DFCC8EC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9036-05C3-93E6-D76D-9FA44549B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200912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How to know if I tested every behavior? Starting point is </a:t>
            </a:r>
            <a:r>
              <a:rPr lang="en-US" sz="3600" b="1" dirty="0"/>
              <a:t>code coverage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997825-0F37-0C9F-7145-14670A3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39BF53-7C5F-8514-31DB-046310D88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54" y="1487594"/>
            <a:ext cx="11568684" cy="17457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8331A30-9ED2-1EF5-5238-2443CB34AA0B}"/>
              </a:ext>
            </a:extLst>
          </p:cNvPr>
          <p:cNvSpPr txBox="1"/>
          <p:nvPr/>
        </p:nvSpPr>
        <p:spPr>
          <a:xfrm>
            <a:off x="3025228" y="3272310"/>
            <a:ext cx="542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https://en.wikipedia.org/wiki/Code_coverage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0E282A-5232-456E-1D93-4BCFD6FC631F}"/>
              </a:ext>
            </a:extLst>
          </p:cNvPr>
          <p:cNvSpPr txBox="1"/>
          <p:nvPr/>
        </p:nvSpPr>
        <p:spPr>
          <a:xfrm>
            <a:off x="297792" y="4592779"/>
            <a:ext cx="789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out the ‘</a:t>
            </a:r>
            <a:r>
              <a:rPr lang="en-US" b="1" dirty="0"/>
              <a:t>how to’ </a:t>
            </a:r>
            <a:r>
              <a:rPr lang="en-US" dirty="0"/>
              <a:t>code coverage guide to analyze your codebase quickly: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BC6808-B9F9-0DE4-3934-BD08127FB542}"/>
              </a:ext>
            </a:extLst>
          </p:cNvPr>
          <p:cNvSpPr txBox="1"/>
          <p:nvPr/>
        </p:nvSpPr>
        <p:spPr>
          <a:xfrm>
            <a:off x="693222" y="5001074"/>
            <a:ext cx="11075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https://github.com/sefop/training-testing-python/blob/main/exercises/unit-tests/how-to-code-coverage.md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9151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6FA7F-3DB6-299A-ED4C-2E740AD5C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1AEB-CB21-157C-82CF-1B3220254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914400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Your task: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539B6F2-80A4-7EFA-F091-89D347AAAAB3}"/>
              </a:ext>
            </a:extLst>
          </p:cNvPr>
          <p:cNvSpPr txBox="1">
            <a:spLocks/>
          </p:cNvSpPr>
          <p:nvPr/>
        </p:nvSpPr>
        <p:spPr>
          <a:xfrm>
            <a:off x="351431" y="1243324"/>
            <a:ext cx="11346583" cy="4926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chemeClr val="tx1"/>
                </a:solidFill>
                <a:latin typeface="AmericanSans"/>
              </a:rPr>
              <a:t>Check out how the unit tests were created for the function `add()` as a starting point (“main” branch).</a:t>
            </a: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  <a:hlinkClick r:id="rId2"/>
              </a:rPr>
              <a:t>https://github.com/sefop/training-testing-python/blob/main/src/calculator.py</a:t>
            </a:r>
            <a:endParaRPr lang="en-US" sz="2000" b="0" dirty="0">
              <a:solidFill>
                <a:schemeClr val="tx1"/>
              </a:solidFill>
              <a:latin typeface="AmericanSans"/>
            </a:endParaRP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  <a:hlinkClick r:id="rId3"/>
              </a:rPr>
              <a:t>https://github.com/sefop/training-testing-python/blob/main/tests/test_calculator_add.py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</a:t>
            </a:r>
          </a:p>
          <a:p>
            <a:pPr marL="342900" indent="-342900">
              <a:buChar char="•"/>
            </a:pPr>
            <a:endParaRPr lang="en-US" sz="2000" b="0" dirty="0">
              <a:solidFill>
                <a:schemeClr val="tx1"/>
              </a:solidFill>
              <a:latin typeface="AmericanSans"/>
            </a:endParaRPr>
          </a:p>
          <a:p>
            <a:pPr marL="342900" indent="-342900">
              <a:buChar char="•"/>
            </a:pPr>
            <a:endParaRPr lang="en-US" sz="2000" b="0" dirty="0">
              <a:solidFill>
                <a:schemeClr val="tx1"/>
              </a:solidFill>
              <a:latin typeface="AmericanSans"/>
            </a:endParaRP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</a:rPr>
              <a:t>Implement the unit tests of the implemented function `divide()` in the calculator.py script until you reach </a:t>
            </a:r>
            <a:r>
              <a:rPr lang="en-US" sz="2000" dirty="0">
                <a:solidFill>
                  <a:schemeClr val="tx1"/>
                </a:solidFill>
                <a:latin typeface="AmericanSans"/>
              </a:rPr>
              <a:t>100% code coverage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in the </a:t>
            </a:r>
            <a:r>
              <a:rPr lang="en-US" sz="2000" dirty="0">
                <a:solidFill>
                  <a:schemeClr val="tx1"/>
                </a:solidFill>
                <a:latin typeface="AmericanSans"/>
              </a:rPr>
              <a:t>calculator.py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script.</a:t>
            </a:r>
          </a:p>
          <a:p>
            <a:endParaRPr lang="en-US" sz="2000" b="0" dirty="0">
              <a:solidFill>
                <a:schemeClr val="tx1"/>
              </a:solidFill>
              <a:latin typeface="AmericanSans"/>
            </a:endParaRP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  <a:sym typeface="Wingdings" panose="05000000000000000000" pitchFamily="2" charset="2"/>
              </a:rPr>
              <a:t>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Place your unit tests on this test file:</a:t>
            </a: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  <a:hlinkClick r:id="rId4"/>
              </a:rPr>
              <a:t>https://github.com/sefop/training-testing-python/blob/main/tests/test_calculator_divide.py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 </a:t>
            </a:r>
          </a:p>
          <a:p>
            <a:endParaRPr lang="en-US" sz="2000" b="0" dirty="0">
              <a:solidFill>
                <a:schemeClr val="tx1"/>
              </a:solidFill>
              <a:latin typeface="AmericanSans"/>
            </a:endParaRP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The solutions of this exercise are in the “solutions” branch.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31C85-44A5-F533-336E-44508CDF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00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2568</Words>
  <Application>Microsoft Office PowerPoint</Application>
  <PresentationFormat>Widescreen</PresentationFormat>
  <Paragraphs>152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AmericanSans</vt:lpstr>
      <vt:lpstr>Aptos</vt:lpstr>
      <vt:lpstr>Aptos Display</vt:lpstr>
      <vt:lpstr>Arial</vt:lpstr>
      <vt:lpstr>Calibri</vt:lpstr>
      <vt:lpstr>Consolas</vt:lpstr>
      <vt:lpstr>Office Theme</vt:lpstr>
      <vt:lpstr>Introduction to Unit Testing</vt:lpstr>
      <vt:lpstr>Types of tests</vt:lpstr>
      <vt:lpstr>Hierarchy of functional tests</vt:lpstr>
      <vt:lpstr>Hierarchy of functional tests</vt:lpstr>
      <vt:lpstr>Hierarchy of functional tests</vt:lpstr>
      <vt:lpstr>Hierarchy of functional tests</vt:lpstr>
      <vt:lpstr>Hierarchy of functional tests</vt:lpstr>
      <vt:lpstr>A calculator example</vt:lpstr>
      <vt:lpstr>Example: adding two integers</vt:lpstr>
      <vt:lpstr>Definition: a module has an interface and an implementation</vt:lpstr>
      <vt:lpstr>An outlet providing power is an abstraction of an electricity service</vt:lpstr>
      <vt:lpstr>What to test? The “behaviors” of the interface</vt:lpstr>
      <vt:lpstr>PowerPoint Presentation</vt:lpstr>
      <vt:lpstr>Typical structure of a unit test</vt:lpstr>
      <vt:lpstr>Name structure of a unit test &amp; the AAA pattern</vt:lpstr>
      <vt:lpstr>How to know if I tested every behavior? Starting point is code coverage</vt:lpstr>
      <vt:lpstr>Your task: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Zenteno Smith</dc:creator>
  <cp:lastModifiedBy>Francisco Zenteno Smith</cp:lastModifiedBy>
  <cp:revision>128</cp:revision>
  <dcterms:created xsi:type="dcterms:W3CDTF">2024-12-29T21:37:15Z</dcterms:created>
  <dcterms:modified xsi:type="dcterms:W3CDTF">2026-09-24T20:45:16Z</dcterms:modified>
</cp:coreProperties>
</file>