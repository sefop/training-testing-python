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408" r:id="rId3"/>
    <p:sldId id="260" r:id="rId4"/>
    <p:sldId id="263" r:id="rId5"/>
    <p:sldId id="264" r:id="rId6"/>
    <p:sldId id="265" r:id="rId7"/>
    <p:sldId id="266" r:id="rId8"/>
    <p:sldId id="261" r:id="rId9"/>
    <p:sldId id="267" r:id="rId10"/>
    <p:sldId id="409" r:id="rId11"/>
    <p:sldId id="410" r:id="rId12"/>
    <p:sldId id="402" r:id="rId13"/>
    <p:sldId id="40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EB"/>
    <a:srgbClr val="4A75CC"/>
    <a:srgbClr val="4165B0"/>
    <a:srgbClr val="3B5B9C"/>
    <a:srgbClr val="BF3DC2"/>
    <a:srgbClr val="FED730"/>
    <a:srgbClr val="FFFFFF"/>
    <a:srgbClr val="F8F7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04" autoAdjust="0"/>
    <p:restoredTop sz="92549" autoAdjust="0"/>
  </p:normalViewPr>
  <p:slideViewPr>
    <p:cSldViewPr snapToGrid="0">
      <p:cViewPr>
        <p:scale>
          <a:sx n="75" d="100"/>
          <a:sy n="75" d="100"/>
        </p:scale>
        <p:origin x="132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8929D2-0E8B-4573-AA4B-C87D4F90B452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1C955-0A53-4CE8-B014-58EE68AEC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421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41C955-0A53-4CE8-B014-58EE68AEC5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7522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sys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 add(x: int, y: int) -&gt; int: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"""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Add two integers with validation and overflow detection.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- Complies with commutativity: add(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x,y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= add(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y,x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- Complies with identity: add(x,0) = add(0,x)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:param x: First integer to add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:param y: Second integer to add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:return: x + y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:raises 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TypeError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If either x or y is not an integer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:raises 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OverflowError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If the sum exceeds the maximum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representable integer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"""</a:t>
            </a:r>
            <a:b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Input validation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if not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isinstance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(x, int) or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isinstance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(x, bool):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raise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TypeError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("x is not an integer")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if not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isinstance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(y, int) or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isinstance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(y, bool):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raise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TypeError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("y is not an integer")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# Compute the sum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result = x + y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# Check for overflow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if result &gt;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sys.maxsize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result &lt; -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sys.maxsize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- 1: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raise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OverflowError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("Integer overflow")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return result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__name__ == "__main__":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# Demonstrate normal usage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print("=== Normal Usage ===")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print(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f"add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(5, 3) = {add(5, 3)}")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print(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f"add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(-10, 4) = {add(-10, 4)}")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print(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f"add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(0, 42) = {add(0, 42)}")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# Demonstrate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TypeError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print("\n=== Type Error Handling ===")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try: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add("5", 3)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except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TypeError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e: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print(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f"TypeError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caught: {e}")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# Demonstrate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OverflowError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print("\n=== Overflow Error Handling ===")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try: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print(add(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sys.maxsize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1))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except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OverflowError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e: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print(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f"OverflowError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caught: {e}")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41C955-0A53-4CE8-B014-58EE68AEC52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0854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41C955-0A53-4CE8-B014-58EE68AEC52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933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FA7FA-FC2C-8143-7BD5-C4B35495C8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808C6D-A4E6-5BFF-33EC-D681CCEDD5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877AA-66C9-0FBC-8E6C-16D5BE9DA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8D308-A2A6-458E-94F6-BC214F8ABC37}" type="datetime1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5618D-839F-0936-61F4-7B566ACA3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FFC49-8F05-E0BC-735C-F2145DCF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715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B3823-FA07-BC3A-66CD-15603261D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515F4-FC5B-6F65-02BB-8B654B520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F2577-DCCD-FB8F-146B-A10FEEAD0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885F6-4E0D-4F96-9D4A-701A51C03A8E}" type="datetime1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0DD46-F7DB-F450-1F14-2DB08F5F8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B025F-701A-4930-CA17-FB47EC25E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07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5C2C9-99FF-422C-B62C-6DF80AF85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BAD01-9A0F-30B8-061E-3AAF63AFC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4B95D-5732-9118-FD9B-1404C1511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E6074-FB5B-4111-AD69-45F699D11CEE}" type="datetime1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B8419-77CF-FC71-37BC-452F4291E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68B94-3819-A60F-EFCF-08F7782C1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123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A44FF-678C-0BD0-428A-A871E5377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F2F9B-0B9A-E50B-65AC-35B6B21361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2EA85-2546-829D-C3B4-9AAB4E3143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855076-6DD3-F6ED-6626-38C2BF0A3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43287-A541-4FBC-9DFE-4C26D02CBEED}" type="datetime1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2FA390-2D6F-996C-15D8-E5F6B0E58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A4FB98-97E2-95D9-B706-B2F83ECE1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18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FFF51-DA4B-F23C-1E13-A171AFEC7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AD0CE-C3F7-931E-0C7F-C14F0657D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0D766D-3F7B-0308-7371-097BB697B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033623-74F2-F34E-B875-CB2E925941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C868A1-B065-7055-1123-7769396F10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EBC530-AF4D-D30A-33F7-AAF8542F2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4DCE4-AB02-448D-8752-78E172822B45}" type="datetime1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325AD3-9833-7FBA-C115-F1432B738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1E4972-2FDA-0C4C-9114-45BE00AE0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417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C5E64-549D-B3C5-9569-1005A3F88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77498B-08B0-9EEB-FE57-6E4CE1931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880FA-E6AF-4379-8F5E-BF92A0077603}" type="datetime1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6B4688-DFD3-8A3A-ABA1-A90CD2996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0A0BEA-B09B-16E7-B518-1C460D5BF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121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2D12F9-C1FD-9FE3-8A1A-811FB87A1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573D9-244C-41BD-9010-1679B124B651}" type="datetime1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F6434A-0CC5-60C1-9980-B6261DE70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2B6B5-5469-B640-E8EE-23146E0F9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087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07E21-9372-8ED3-329E-6021DA015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1708B-AF9D-F4A0-0BF6-F4CF158F1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8C2A2-C539-D8FC-94CB-3EDEEF7D36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DF6337-2480-96DA-D656-76980DD72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75AE8-4771-44FE-AD20-D090FAF8EACD}" type="datetime1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8D0933-CD73-DE3D-4126-25F4DF0CC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1FA452-AD50-50F2-73E4-A1F65833A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62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0D629-5C00-6593-A058-B3D65E882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E05C69-01B6-1C72-02E6-006707023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369A62-155A-7D11-BDC1-75D2EA878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9B763-5803-D2BF-F09D-B3AF21F72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2CF6E-9787-4A8B-BC44-1D044A98129C}" type="datetime1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CB494A-7CDC-BE11-85CF-897A33211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3CD85-87E7-EDAC-18C2-2D8B3CC3F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48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DB80B-44C2-EC2C-FA23-E70EEAB6E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900F9-6130-1E23-5E58-90F5EECC88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66F75-14BD-7CD8-762E-201FEAC3C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DB6CE-6FE7-4B2B-9FC6-2BCAE31CBB40}" type="datetime1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2F5E3-6594-C08D-FCA5-0A1C45597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2F9DB-0A04-BFE4-E265-4B560A701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9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DB887A-07BE-867A-A399-7772D5F1E7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697AD7-EA8E-5DB1-E6D5-88B97D380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6D669-FF1F-8A39-6672-2D952DB35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CA857-2376-48D2-96A8-556A5B78D1EC}" type="datetime1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40390-C889-B970-0D47-80319B4B0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9B2FD-F587-8E25-8F9E-F9034E1E4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4744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87113ECF-D558-6343-9EA9-D26C0BEB87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955481"/>
            <a:ext cx="1024128" cy="902519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26047793-0769-0F4F-8A1A-EA53AA366F38}"/>
              </a:ext>
            </a:extLst>
          </p:cNvPr>
          <p:cNvSpPr txBox="1"/>
          <p:nvPr userDrawn="1"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solidFill>
                  <a:schemeClr val="bg2">
                    <a:lumMod val="25000"/>
                  </a:schemeClr>
                </a:solidFill>
                <a:latin typeface="AmericanSans" panose="02000000000000000000" pitchFamily="2" charset="77"/>
              </a:rPr>
              <a:t>‹#›</a:t>
            </a:fld>
            <a:endParaRPr lang="en-US" sz="900" b="0" i="1">
              <a:solidFill>
                <a:schemeClr val="bg2">
                  <a:lumMod val="25000"/>
                </a:schemeClr>
              </a:solidFill>
              <a:latin typeface="AmericanSans" panose="02000000000000000000" pitchFamily="2" charset="77"/>
            </a:endParaRP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0B6606B5-AB41-244D-A481-083D61F996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17172" y="1282414"/>
            <a:ext cx="3945440" cy="687003"/>
          </a:xfrm>
        </p:spPr>
        <p:txBody>
          <a:bodyPr/>
          <a:lstStyle>
            <a:lvl1pPr marL="0" indent="0">
              <a:buNone/>
              <a:defRPr sz="4400" b="1">
                <a:solidFill>
                  <a:srgbClr val="36495A"/>
                </a:solidFill>
              </a:defRPr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7F49F257-122B-1342-A5C8-E06994015C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43441" y="2330970"/>
            <a:ext cx="1352455" cy="477544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rgbClr val="36495A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Item 1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CEEB0733-7C4D-AB47-8943-1E66EE3BC75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91042" y="2307806"/>
            <a:ext cx="2471570" cy="687002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rgbClr val="36495A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Place details regarding the agenda here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9982B6BA-A4F8-604E-8083-EC3893065A6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88367" y="3266323"/>
            <a:ext cx="2471569" cy="687001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rgbClr val="36495A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Place details regarding the agenda here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EC7FB3EE-55C2-EC45-8B5A-C3E221991D8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88370" y="4251824"/>
            <a:ext cx="2471566" cy="687000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rgbClr val="36495A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Place details regarding the agenda here</a:t>
            </a:r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1A11A3A2-F7FC-024D-B08B-85CD527C341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85695" y="5210341"/>
            <a:ext cx="2471565" cy="686999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rgbClr val="36495A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Place details regarding the agenda here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A2D3FFA5-6100-284A-B619-D879ABF148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530431" y="3260977"/>
            <a:ext cx="2468880" cy="685800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Place details regarding the agenda here</a:t>
            </a:r>
          </a:p>
        </p:txBody>
      </p:sp>
      <p:sp>
        <p:nvSpPr>
          <p:cNvPr id="51" name="Text Placeholder 10">
            <a:extLst>
              <a:ext uri="{FF2B5EF4-FFF2-40B4-BE49-F238E27FC236}">
                <a16:creationId xmlns:a16="http://schemas.microsoft.com/office/drawing/2014/main" id="{E653DCB8-B576-C34D-97FF-79FA7442C88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30433" y="4246477"/>
            <a:ext cx="2468880" cy="685800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Place details regarding the agenda here</a:t>
            </a:r>
          </a:p>
        </p:txBody>
      </p:sp>
      <p:sp>
        <p:nvSpPr>
          <p:cNvPr id="54" name="Text Placeholder 10">
            <a:extLst>
              <a:ext uri="{FF2B5EF4-FFF2-40B4-BE49-F238E27FC236}">
                <a16:creationId xmlns:a16="http://schemas.microsoft.com/office/drawing/2014/main" id="{63F64038-D074-5446-BD2B-052288BA39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27759" y="5204995"/>
            <a:ext cx="2468880" cy="685800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Place details regarding the agenda here</a:t>
            </a:r>
          </a:p>
        </p:txBody>
      </p:sp>
      <p:sp>
        <p:nvSpPr>
          <p:cNvPr id="55" name="Text Placeholder 10">
            <a:extLst>
              <a:ext uri="{FF2B5EF4-FFF2-40B4-BE49-F238E27FC236}">
                <a16:creationId xmlns:a16="http://schemas.microsoft.com/office/drawing/2014/main" id="{DA1D93C2-309B-624E-9360-9140E8D3585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527758" y="2307806"/>
            <a:ext cx="2468880" cy="685800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Place details regarding the agenda here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C57D0B18-26B7-2048-8153-4931BC262F1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39087" y="3306329"/>
            <a:ext cx="1356810" cy="494961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rgbClr val="36495A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Item 1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FFD5E081-880A-584A-871C-1B7B0EB105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52150" y="4265022"/>
            <a:ext cx="1352455" cy="477544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rgbClr val="36495A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Item 1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808C7EEA-0A75-084B-9D51-BF243C7BA9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47796" y="5266507"/>
            <a:ext cx="1356810" cy="494961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rgbClr val="36495A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Item 1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A28A7FCF-BB31-0D48-B92E-1C311125427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14654" y="2339679"/>
            <a:ext cx="1352455" cy="477544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rgbClr val="36495A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Item 1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F7B5DEFB-876C-3B4E-BCC9-3ADBF8069AB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3315038"/>
            <a:ext cx="1356810" cy="494961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rgbClr val="36495A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Item 1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810CEB7B-B0A0-E242-B2B0-5EA105AEFB9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23363" y="4273731"/>
            <a:ext cx="1352455" cy="477544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rgbClr val="36495A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Item 1</a:t>
            </a:r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93B58029-A3D2-924F-982D-DB20AC7F6A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19009" y="5275216"/>
            <a:ext cx="1356810" cy="494961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rgbClr val="36495A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Item 1</a:t>
            </a:r>
          </a:p>
        </p:txBody>
      </p:sp>
    </p:spTree>
    <p:extLst>
      <p:ext uri="{BB962C8B-B14F-4D97-AF65-F5344CB8AC3E}">
        <p14:creationId xmlns:p14="http://schemas.microsoft.com/office/powerpoint/2010/main" val="3282814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36">
          <p15:clr>
            <a:srgbClr val="FBAE40"/>
          </p15:clr>
        </p15:guide>
        <p15:guide id="2" orient="horz" pos="2736">
          <p15:clr>
            <a:srgbClr val="FBAE40"/>
          </p15:clr>
        </p15:guide>
        <p15:guide id="3" orient="horz" pos="3360">
          <p15:clr>
            <a:srgbClr val="FBAE40"/>
          </p15:clr>
        </p15:guide>
        <p15:guide id="4" pos="3912">
          <p15:clr>
            <a:srgbClr val="FBAE40"/>
          </p15:clr>
        </p15:guide>
        <p15:guide id="5" pos="117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E67C89-DF97-1F1A-4C43-EF67E82CF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8B7A37-FDD7-74A3-BD19-00F35626F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503E3-9BD1-10B7-6588-2C47102028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A354C-DC0A-4C3E-BF4A-9931F7807B94}" type="datetime1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EE4EC-22BF-5EB5-2C90-AF65F338DB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F295C-54A5-3E07-6F47-52921E977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0CFC7C-F3DD-4CCA-A309-41102AB6D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102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efop/training-testing-pytho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vZm0lHciFsQ" TargetMode="External"/><Relationship Id="rId2" Type="http://schemas.openxmlformats.org/officeDocument/2006/relationships/hyperlink" Target="https://www.testingdocs.com/junit-calculator-test-case-example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hyperlink" Target="https://github.com/sefop/training-testing-python/blob/main/src/calculator.py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jzs/testing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2D7C4-5D57-5161-13C9-828E402796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24762"/>
            <a:ext cx="9144000" cy="1534018"/>
          </a:xfrm>
        </p:spPr>
        <p:txBody>
          <a:bodyPr/>
          <a:lstStyle/>
          <a:p>
            <a:r>
              <a:rPr lang="en-US" noProof="0" dirty="0"/>
              <a:t>Introduction to Unit 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1FEFBB-53FA-521E-0BBD-6AB61DFD65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3551"/>
            <a:ext cx="9144000" cy="1100470"/>
          </a:xfrm>
        </p:spPr>
        <p:txBody>
          <a:bodyPr>
            <a:normAutofit/>
          </a:bodyPr>
          <a:lstStyle/>
          <a:p>
            <a:r>
              <a:rPr lang="en-US" b="1" noProof="0" dirty="0"/>
              <a:t>SEFOP</a:t>
            </a:r>
          </a:p>
          <a:p>
            <a:r>
              <a:rPr lang="en-US" b="1" dirty="0">
                <a:hlinkClick r:id="rId3"/>
              </a:rPr>
              <a:t>https://github.com/sefop/training-testing-python</a:t>
            </a:r>
            <a:r>
              <a:rPr lang="en-US" b="1" dirty="0"/>
              <a:t> </a:t>
            </a:r>
            <a:endParaRPr lang="en-US" b="1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8BEC56-8570-5650-3F54-20175E33E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7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EB71A-CC1F-BFAF-3460-783634A6D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57950-D05F-19D8-F0D0-1BE79BE796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32080"/>
            <a:ext cx="11871518" cy="573722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/>
              <a:t>Types of tests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4DC20-0704-98AE-2B5E-F2F892BF3BD0}"/>
              </a:ext>
            </a:extLst>
          </p:cNvPr>
          <p:cNvSpPr txBox="1">
            <a:spLocks/>
          </p:cNvSpPr>
          <p:nvPr/>
        </p:nvSpPr>
        <p:spPr>
          <a:xfrm>
            <a:off x="1832042" y="5634075"/>
            <a:ext cx="8941974" cy="4949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rgbClr val="36495A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4DAFE7-7C5D-05A8-C252-CFD32C1288D4}"/>
              </a:ext>
            </a:extLst>
          </p:cNvPr>
          <p:cNvSpPr/>
          <p:nvPr/>
        </p:nvSpPr>
        <p:spPr>
          <a:xfrm>
            <a:off x="1252922" y="2103120"/>
            <a:ext cx="3928678" cy="243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Does my program offer its services correctly?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5989E0-1E09-0E30-7C37-7067E724B24D}"/>
              </a:ext>
            </a:extLst>
          </p:cNvPr>
          <p:cNvSpPr/>
          <p:nvPr/>
        </p:nvSpPr>
        <p:spPr>
          <a:xfrm>
            <a:off x="6424362" y="2103120"/>
            <a:ext cx="3928678" cy="243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Elements surrounding the services (security, speed, usability, availability, scalability, </a:t>
            </a:r>
            <a:r>
              <a:rPr lang="en-US" dirty="0" err="1"/>
              <a:t>etc</a:t>
            </a:r>
            <a:r>
              <a:rPr lang="en-US" dirty="0"/>
              <a:t>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CEA598-1B24-5F8C-9A49-A5CB9E11E21A}"/>
              </a:ext>
            </a:extLst>
          </p:cNvPr>
          <p:cNvSpPr txBox="1"/>
          <p:nvPr/>
        </p:nvSpPr>
        <p:spPr>
          <a:xfrm>
            <a:off x="1252922" y="1733788"/>
            <a:ext cx="3928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Functional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973DED-70E5-D9E3-CC77-E542C4DA3036}"/>
              </a:ext>
            </a:extLst>
          </p:cNvPr>
          <p:cNvSpPr txBox="1"/>
          <p:nvPr/>
        </p:nvSpPr>
        <p:spPr>
          <a:xfrm>
            <a:off x="6424362" y="1733788"/>
            <a:ext cx="3928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Non-functional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4B8C68C-D2BE-8F98-7526-99299CF74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623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509C7-2069-EBE4-042A-CB9FFD6B2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73411-0A9C-853C-1DCF-D810DDD32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32080"/>
            <a:ext cx="11612880" cy="573722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/>
              <a:t>Hierarchy of functional tests</a:t>
            </a:r>
          </a:p>
        </p:txBody>
      </p:sp>
      <p:pic>
        <p:nvPicPr>
          <p:cNvPr id="3" name="Picture 2" descr="What is Unit Testing? A Comprehensive Guide">
            <a:extLst>
              <a:ext uri="{FF2B5EF4-FFF2-40B4-BE49-F238E27FC236}">
                <a16:creationId xmlns:a16="http://schemas.microsoft.com/office/drawing/2014/main" id="{FAA8689D-5C0E-8EB0-FDEF-47C8E94D7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4703" y="1585498"/>
            <a:ext cx="7102545" cy="3941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D6EC7-BF9C-F8AC-252F-577389929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907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0FDBD-9FF5-10F8-DB4F-4FDB2C517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1AEDB-11A5-583C-F831-E05EBCEE2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32080"/>
            <a:ext cx="11612880" cy="573722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/>
              <a:t>Hierarchy of functional tests</a:t>
            </a:r>
          </a:p>
        </p:txBody>
      </p:sp>
      <p:pic>
        <p:nvPicPr>
          <p:cNvPr id="3" name="Picture 2" descr="What is Unit Testing? A Comprehensive Guide">
            <a:extLst>
              <a:ext uri="{FF2B5EF4-FFF2-40B4-BE49-F238E27FC236}">
                <a16:creationId xmlns:a16="http://schemas.microsoft.com/office/drawing/2014/main" id="{492B8520-4513-5874-C8A3-E7076A0A0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4703" y="1585498"/>
            <a:ext cx="7102545" cy="3941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5E77119-DB30-B827-4756-B967DC475BFA}"/>
              </a:ext>
            </a:extLst>
          </p:cNvPr>
          <p:cNvSpPr/>
          <p:nvPr/>
        </p:nvSpPr>
        <p:spPr>
          <a:xfrm>
            <a:off x="8453120" y="842962"/>
            <a:ext cx="2448560" cy="14630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AE438A-BA44-BC9C-C2AF-7C8C0C60F2F3}"/>
              </a:ext>
            </a:extLst>
          </p:cNvPr>
          <p:cNvSpPr/>
          <p:nvPr/>
        </p:nvSpPr>
        <p:spPr>
          <a:xfrm>
            <a:off x="8453120" y="2697480"/>
            <a:ext cx="2448560" cy="14630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9D51B6-47C8-2281-650F-01238D1BA5C2}"/>
              </a:ext>
            </a:extLst>
          </p:cNvPr>
          <p:cNvSpPr/>
          <p:nvPr/>
        </p:nvSpPr>
        <p:spPr>
          <a:xfrm>
            <a:off x="8453120" y="4551998"/>
            <a:ext cx="2448560" cy="14630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D1A11F-7DC3-EF9F-26E3-2753A0C33C80}"/>
              </a:ext>
            </a:extLst>
          </p:cNvPr>
          <p:cNvSpPr txBox="1"/>
          <p:nvPr/>
        </p:nvSpPr>
        <p:spPr>
          <a:xfrm>
            <a:off x="7000945" y="1123833"/>
            <a:ext cx="1305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Module 1: Reading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13887A-8399-66FF-D114-D0E1694F4F7C}"/>
              </a:ext>
            </a:extLst>
          </p:cNvPr>
          <p:cNvSpPr txBox="1"/>
          <p:nvPr/>
        </p:nvSpPr>
        <p:spPr>
          <a:xfrm>
            <a:off x="7000944" y="2967335"/>
            <a:ext cx="1305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Module 2: Business logic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F5B7C0-497E-B7B9-7093-F940782C50B5}"/>
              </a:ext>
            </a:extLst>
          </p:cNvPr>
          <p:cNvSpPr txBox="1"/>
          <p:nvPr/>
        </p:nvSpPr>
        <p:spPr>
          <a:xfrm>
            <a:off x="7000943" y="4821853"/>
            <a:ext cx="1305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Module 3: Process 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8FC6BB-577F-5A11-E8FB-A76525192ABD}"/>
              </a:ext>
            </a:extLst>
          </p:cNvPr>
          <p:cNvSpPr/>
          <p:nvPr/>
        </p:nvSpPr>
        <p:spPr>
          <a:xfrm>
            <a:off x="8788400" y="1033966"/>
            <a:ext cx="181864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read_user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E12456-3D4C-84CC-4AD9-2CD72340D86E}"/>
              </a:ext>
            </a:extLst>
          </p:cNvPr>
          <p:cNvSpPr/>
          <p:nvPr/>
        </p:nvSpPr>
        <p:spPr>
          <a:xfrm>
            <a:off x="6847840" y="568960"/>
            <a:ext cx="5151120" cy="57200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477AC2-93DD-F377-7779-4B6F090D10A0}"/>
              </a:ext>
            </a:extLst>
          </p:cNvPr>
          <p:cNvSpPr txBox="1"/>
          <p:nvPr/>
        </p:nvSpPr>
        <p:spPr>
          <a:xfrm>
            <a:off x="8453120" y="188555"/>
            <a:ext cx="2382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Example program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3345-B205-7596-87FE-19DA3EC94731}"/>
              </a:ext>
            </a:extLst>
          </p:cNvPr>
          <p:cNvSpPr/>
          <p:nvPr/>
        </p:nvSpPr>
        <p:spPr>
          <a:xfrm>
            <a:off x="8788400" y="1755232"/>
            <a:ext cx="181864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read_db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360C23-603E-D5B3-5F44-A674E6A0DED9}"/>
              </a:ext>
            </a:extLst>
          </p:cNvPr>
          <p:cNvSpPr/>
          <p:nvPr/>
        </p:nvSpPr>
        <p:spPr>
          <a:xfrm>
            <a:off x="8656320" y="2911097"/>
            <a:ext cx="208280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calculate_income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DFF0AA-79ED-C40E-190C-24497E63B1B1}"/>
              </a:ext>
            </a:extLst>
          </p:cNvPr>
          <p:cNvSpPr/>
          <p:nvPr/>
        </p:nvSpPr>
        <p:spPr>
          <a:xfrm>
            <a:off x="8656320" y="3632457"/>
            <a:ext cx="208280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calculate_tax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747486-3772-B2C0-2CFD-3A91146D4FA4}"/>
              </a:ext>
            </a:extLst>
          </p:cNvPr>
          <p:cNvSpPr/>
          <p:nvPr/>
        </p:nvSpPr>
        <p:spPr>
          <a:xfrm>
            <a:off x="8656320" y="4757984"/>
            <a:ext cx="208280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create_report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80104C-B69C-97BE-7A8F-21A602D88479}"/>
              </a:ext>
            </a:extLst>
          </p:cNvPr>
          <p:cNvSpPr/>
          <p:nvPr/>
        </p:nvSpPr>
        <p:spPr>
          <a:xfrm>
            <a:off x="8656320" y="5472319"/>
            <a:ext cx="208280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display_report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256CC0E7-4CCF-6695-D93C-CF3DFF993120}"/>
              </a:ext>
            </a:extLst>
          </p:cNvPr>
          <p:cNvSpPr/>
          <p:nvPr/>
        </p:nvSpPr>
        <p:spPr>
          <a:xfrm>
            <a:off x="9548368" y="716875"/>
            <a:ext cx="192024" cy="26847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1AEE5C63-03F0-8E39-E3E0-E5D0F3504C7C}"/>
              </a:ext>
            </a:extLst>
          </p:cNvPr>
          <p:cNvSpPr/>
          <p:nvPr/>
        </p:nvSpPr>
        <p:spPr>
          <a:xfrm>
            <a:off x="9548368" y="1452974"/>
            <a:ext cx="192024" cy="26847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DBC5A89F-94D8-1490-D480-5D27BF83CD3C}"/>
              </a:ext>
            </a:extLst>
          </p:cNvPr>
          <p:cNvSpPr/>
          <p:nvPr/>
        </p:nvSpPr>
        <p:spPr>
          <a:xfrm>
            <a:off x="9548368" y="2203408"/>
            <a:ext cx="192024" cy="649519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D07F44C0-909E-060C-E0CD-A421823B175D}"/>
              </a:ext>
            </a:extLst>
          </p:cNvPr>
          <p:cNvSpPr/>
          <p:nvPr/>
        </p:nvSpPr>
        <p:spPr>
          <a:xfrm>
            <a:off x="9548368" y="3316948"/>
            <a:ext cx="192024" cy="26847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50718111-B891-8039-E414-B04CDCFED757}"/>
              </a:ext>
            </a:extLst>
          </p:cNvPr>
          <p:cNvSpPr/>
          <p:nvPr/>
        </p:nvSpPr>
        <p:spPr>
          <a:xfrm>
            <a:off x="9548368" y="4074459"/>
            <a:ext cx="192024" cy="649519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A2160343-9380-3219-E30E-27B11D182714}"/>
              </a:ext>
            </a:extLst>
          </p:cNvPr>
          <p:cNvSpPr/>
          <p:nvPr/>
        </p:nvSpPr>
        <p:spPr>
          <a:xfrm>
            <a:off x="9548368" y="5160858"/>
            <a:ext cx="192024" cy="26847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38E71D49-A7D2-C839-7C29-186D8DC60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269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B7561-85DC-1001-A2B2-3DCF286D5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8622B-7DEF-1FB5-9652-3359CDCE39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32080"/>
            <a:ext cx="11612880" cy="573722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/>
              <a:t>Hierarchy of functional tests</a:t>
            </a:r>
          </a:p>
        </p:txBody>
      </p:sp>
      <p:pic>
        <p:nvPicPr>
          <p:cNvPr id="3" name="Picture 2" descr="What is Unit Testing? A Comprehensive Guide">
            <a:extLst>
              <a:ext uri="{FF2B5EF4-FFF2-40B4-BE49-F238E27FC236}">
                <a16:creationId xmlns:a16="http://schemas.microsoft.com/office/drawing/2014/main" id="{21D3FDD6-2F27-D2CB-417F-75C1DF8F5B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4703" y="1585498"/>
            <a:ext cx="7102545" cy="3941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A07524B-AE55-1C21-AA56-02CBE7BA05A6}"/>
              </a:ext>
            </a:extLst>
          </p:cNvPr>
          <p:cNvSpPr/>
          <p:nvPr/>
        </p:nvSpPr>
        <p:spPr>
          <a:xfrm>
            <a:off x="8453120" y="842962"/>
            <a:ext cx="2448560" cy="14630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226C67-3EAC-F8B2-1EAD-46B967AC0842}"/>
              </a:ext>
            </a:extLst>
          </p:cNvPr>
          <p:cNvSpPr/>
          <p:nvPr/>
        </p:nvSpPr>
        <p:spPr>
          <a:xfrm>
            <a:off x="8453120" y="2697480"/>
            <a:ext cx="2448560" cy="14630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4A820D-0A9A-DCCD-4D2E-BA7D6244D6E6}"/>
              </a:ext>
            </a:extLst>
          </p:cNvPr>
          <p:cNvSpPr/>
          <p:nvPr/>
        </p:nvSpPr>
        <p:spPr>
          <a:xfrm>
            <a:off x="8453120" y="4551998"/>
            <a:ext cx="2448560" cy="14630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D00C8B-2F8D-AB2E-6340-24993CDFA6BC}"/>
              </a:ext>
            </a:extLst>
          </p:cNvPr>
          <p:cNvSpPr txBox="1"/>
          <p:nvPr/>
        </p:nvSpPr>
        <p:spPr>
          <a:xfrm>
            <a:off x="7000945" y="1123833"/>
            <a:ext cx="1305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Module 1: Reading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FC491-6DA9-0D71-A4F0-4F5D610F79CB}"/>
              </a:ext>
            </a:extLst>
          </p:cNvPr>
          <p:cNvSpPr txBox="1"/>
          <p:nvPr/>
        </p:nvSpPr>
        <p:spPr>
          <a:xfrm>
            <a:off x="7000944" y="2967335"/>
            <a:ext cx="1305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Module 2: Business logic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5B9AF9-9268-6C3C-5A0B-D5EF5334BC21}"/>
              </a:ext>
            </a:extLst>
          </p:cNvPr>
          <p:cNvSpPr txBox="1"/>
          <p:nvPr/>
        </p:nvSpPr>
        <p:spPr>
          <a:xfrm>
            <a:off x="7000943" y="4821853"/>
            <a:ext cx="1305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Module 3: Process 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7AC510-5826-9A63-EF99-2B74C3EC5D92}"/>
              </a:ext>
            </a:extLst>
          </p:cNvPr>
          <p:cNvSpPr/>
          <p:nvPr/>
        </p:nvSpPr>
        <p:spPr>
          <a:xfrm>
            <a:off x="8788400" y="1033966"/>
            <a:ext cx="181864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read_user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8AD692-A818-4061-D3B3-93CB39385C59}"/>
              </a:ext>
            </a:extLst>
          </p:cNvPr>
          <p:cNvSpPr/>
          <p:nvPr/>
        </p:nvSpPr>
        <p:spPr>
          <a:xfrm>
            <a:off x="6847840" y="568960"/>
            <a:ext cx="5151120" cy="5720080"/>
          </a:xfrm>
          <a:prstGeom prst="rect">
            <a:avLst/>
          </a:prstGeom>
          <a:noFill/>
          <a:ln>
            <a:solidFill>
              <a:srgbClr val="5959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783BD5-E9F4-7EAB-FDA8-8C1A42BE685C}"/>
              </a:ext>
            </a:extLst>
          </p:cNvPr>
          <p:cNvSpPr txBox="1"/>
          <p:nvPr/>
        </p:nvSpPr>
        <p:spPr>
          <a:xfrm>
            <a:off x="8453120" y="188555"/>
            <a:ext cx="2382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Example program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F20129-1FD1-113C-345A-5F615D57D163}"/>
              </a:ext>
            </a:extLst>
          </p:cNvPr>
          <p:cNvSpPr/>
          <p:nvPr/>
        </p:nvSpPr>
        <p:spPr>
          <a:xfrm>
            <a:off x="8788400" y="1755232"/>
            <a:ext cx="181864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read_db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F062E5-D111-7D40-3E2E-A6ECB5998E61}"/>
              </a:ext>
            </a:extLst>
          </p:cNvPr>
          <p:cNvSpPr/>
          <p:nvPr/>
        </p:nvSpPr>
        <p:spPr>
          <a:xfrm>
            <a:off x="8656320" y="2911097"/>
            <a:ext cx="208280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calculate_income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7E460F-EC47-5D33-DBC2-0166665B8D86}"/>
              </a:ext>
            </a:extLst>
          </p:cNvPr>
          <p:cNvSpPr/>
          <p:nvPr/>
        </p:nvSpPr>
        <p:spPr>
          <a:xfrm>
            <a:off x="8656320" y="3632457"/>
            <a:ext cx="208280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calculate_tax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E258CA-01EF-E0E8-0C04-D6D19212F9A0}"/>
              </a:ext>
            </a:extLst>
          </p:cNvPr>
          <p:cNvSpPr/>
          <p:nvPr/>
        </p:nvSpPr>
        <p:spPr>
          <a:xfrm>
            <a:off x="8656320" y="4757984"/>
            <a:ext cx="208280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create_report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5454EF-3283-2D21-7678-CBCCA8897D37}"/>
              </a:ext>
            </a:extLst>
          </p:cNvPr>
          <p:cNvSpPr/>
          <p:nvPr/>
        </p:nvSpPr>
        <p:spPr>
          <a:xfrm>
            <a:off x="8656320" y="5472319"/>
            <a:ext cx="2082800" cy="329882"/>
          </a:xfrm>
          <a:prstGeom prst="rect">
            <a:avLst/>
          </a:prstGeom>
          <a:solidFill>
            <a:srgbClr val="5959EB"/>
          </a:solidFill>
          <a:ln>
            <a:solidFill>
              <a:srgbClr val="5959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display_report</a:t>
            </a:r>
            <a:r>
              <a:rPr lang="en-US" sz="1600" dirty="0">
                <a:solidFill>
                  <a:schemeClr val="bg1"/>
                </a:solidFill>
              </a:rPr>
              <a:t>()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32CE475D-0FB4-49C7-213B-55495B0D4990}"/>
              </a:ext>
            </a:extLst>
          </p:cNvPr>
          <p:cNvSpPr/>
          <p:nvPr/>
        </p:nvSpPr>
        <p:spPr>
          <a:xfrm>
            <a:off x="9548368" y="716875"/>
            <a:ext cx="192024" cy="268470"/>
          </a:xfrm>
          <a:prstGeom prst="downArrow">
            <a:avLst/>
          </a:prstGeom>
          <a:solidFill>
            <a:srgbClr val="5959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F31F5731-9FBD-C5E5-BEDE-E3F021964B0F}"/>
              </a:ext>
            </a:extLst>
          </p:cNvPr>
          <p:cNvSpPr/>
          <p:nvPr/>
        </p:nvSpPr>
        <p:spPr>
          <a:xfrm>
            <a:off x="9548368" y="1452974"/>
            <a:ext cx="192024" cy="26847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BD97D034-338E-6906-3958-B1C31FDDD15F}"/>
              </a:ext>
            </a:extLst>
          </p:cNvPr>
          <p:cNvSpPr/>
          <p:nvPr/>
        </p:nvSpPr>
        <p:spPr>
          <a:xfrm>
            <a:off x="9548368" y="2203408"/>
            <a:ext cx="192024" cy="649519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2B5A4E6D-2270-0CA2-E734-AB2F11B88880}"/>
              </a:ext>
            </a:extLst>
          </p:cNvPr>
          <p:cNvSpPr/>
          <p:nvPr/>
        </p:nvSpPr>
        <p:spPr>
          <a:xfrm>
            <a:off x="9548368" y="3316948"/>
            <a:ext cx="192024" cy="26847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C38DA766-4C16-D780-9F45-1F76B071D6AA}"/>
              </a:ext>
            </a:extLst>
          </p:cNvPr>
          <p:cNvSpPr/>
          <p:nvPr/>
        </p:nvSpPr>
        <p:spPr>
          <a:xfrm>
            <a:off x="9548368" y="4074459"/>
            <a:ext cx="192024" cy="649519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6F4B533C-6AC9-6256-2786-E968CBD24EEE}"/>
              </a:ext>
            </a:extLst>
          </p:cNvPr>
          <p:cNvSpPr/>
          <p:nvPr/>
        </p:nvSpPr>
        <p:spPr>
          <a:xfrm>
            <a:off x="9548368" y="5160858"/>
            <a:ext cx="192024" cy="26847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A8834D-EF20-C6B8-4E14-040859D14E38}"/>
              </a:ext>
            </a:extLst>
          </p:cNvPr>
          <p:cNvSpPr/>
          <p:nvPr/>
        </p:nvSpPr>
        <p:spPr>
          <a:xfrm>
            <a:off x="1359939" y="3185497"/>
            <a:ext cx="5151120" cy="175226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261E71D7-C011-196A-2E5A-A1447CDE1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453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FDE6A-0E27-5888-E0DE-FDF7985BF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BDF3-F655-A230-6D99-91E0857A5B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32080"/>
            <a:ext cx="11612880" cy="573722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/>
              <a:t>Hierarchy of functional tests</a:t>
            </a:r>
          </a:p>
        </p:txBody>
      </p:sp>
      <p:pic>
        <p:nvPicPr>
          <p:cNvPr id="3" name="Picture 2" descr="What is Unit Testing? A Comprehensive Guide">
            <a:extLst>
              <a:ext uri="{FF2B5EF4-FFF2-40B4-BE49-F238E27FC236}">
                <a16:creationId xmlns:a16="http://schemas.microsoft.com/office/drawing/2014/main" id="{F513614C-B51C-D579-2A1A-162C168B1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4703" y="1585498"/>
            <a:ext cx="7102545" cy="3941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5115A27E-E41F-1E56-A80C-70C117FD7745}"/>
              </a:ext>
            </a:extLst>
          </p:cNvPr>
          <p:cNvSpPr/>
          <p:nvPr/>
        </p:nvSpPr>
        <p:spPr>
          <a:xfrm>
            <a:off x="1359939" y="1721445"/>
            <a:ext cx="5151120" cy="142815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067BF6C-669D-B467-C5BD-1CF894192F9B}"/>
              </a:ext>
            </a:extLst>
          </p:cNvPr>
          <p:cNvSpPr/>
          <p:nvPr/>
        </p:nvSpPr>
        <p:spPr>
          <a:xfrm>
            <a:off x="8453120" y="842962"/>
            <a:ext cx="2448560" cy="14630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88413CF-8183-170F-8F91-85F10CE523F7}"/>
              </a:ext>
            </a:extLst>
          </p:cNvPr>
          <p:cNvSpPr/>
          <p:nvPr/>
        </p:nvSpPr>
        <p:spPr>
          <a:xfrm>
            <a:off x="8453120" y="2697480"/>
            <a:ext cx="2448560" cy="14630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9867397-522C-821E-9DA4-BF9AF39AE346}"/>
              </a:ext>
            </a:extLst>
          </p:cNvPr>
          <p:cNvSpPr/>
          <p:nvPr/>
        </p:nvSpPr>
        <p:spPr>
          <a:xfrm>
            <a:off x="8453120" y="4551998"/>
            <a:ext cx="2448560" cy="14630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86D3F39-F47A-B1B5-D24A-8734F25BD86D}"/>
              </a:ext>
            </a:extLst>
          </p:cNvPr>
          <p:cNvSpPr txBox="1"/>
          <p:nvPr/>
        </p:nvSpPr>
        <p:spPr>
          <a:xfrm>
            <a:off x="7000945" y="1123833"/>
            <a:ext cx="1305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Module 1: Reading data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04D95BF-CEF1-1EC8-2DED-8CC509135C8F}"/>
              </a:ext>
            </a:extLst>
          </p:cNvPr>
          <p:cNvSpPr txBox="1"/>
          <p:nvPr/>
        </p:nvSpPr>
        <p:spPr>
          <a:xfrm>
            <a:off x="7000944" y="2967335"/>
            <a:ext cx="1305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Module 2: Business logic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D5B517-D0C6-6501-8CAE-D137F0148599}"/>
              </a:ext>
            </a:extLst>
          </p:cNvPr>
          <p:cNvSpPr txBox="1"/>
          <p:nvPr/>
        </p:nvSpPr>
        <p:spPr>
          <a:xfrm>
            <a:off x="7000943" y="4821853"/>
            <a:ext cx="1305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Module 3: Process results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6D6BD15-5C8B-30AD-F335-ED9264216FD5}"/>
              </a:ext>
            </a:extLst>
          </p:cNvPr>
          <p:cNvSpPr/>
          <p:nvPr/>
        </p:nvSpPr>
        <p:spPr>
          <a:xfrm>
            <a:off x="8788400" y="1033966"/>
            <a:ext cx="181864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read_user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417112D-5BB0-217F-5DBD-9B11327EAE95}"/>
              </a:ext>
            </a:extLst>
          </p:cNvPr>
          <p:cNvSpPr/>
          <p:nvPr/>
        </p:nvSpPr>
        <p:spPr>
          <a:xfrm>
            <a:off x="6847840" y="568960"/>
            <a:ext cx="5151120" cy="57200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4387EE-F506-0B1C-0751-9A691E003B83}"/>
              </a:ext>
            </a:extLst>
          </p:cNvPr>
          <p:cNvSpPr txBox="1"/>
          <p:nvPr/>
        </p:nvSpPr>
        <p:spPr>
          <a:xfrm>
            <a:off x="8453120" y="188555"/>
            <a:ext cx="2382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Example program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512392A-E752-8090-9A1F-77A7D0C05387}"/>
              </a:ext>
            </a:extLst>
          </p:cNvPr>
          <p:cNvSpPr/>
          <p:nvPr/>
        </p:nvSpPr>
        <p:spPr>
          <a:xfrm>
            <a:off x="8788400" y="1755232"/>
            <a:ext cx="181864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read_db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4230F9-95B8-F282-6268-46E4EC7A91F7}"/>
              </a:ext>
            </a:extLst>
          </p:cNvPr>
          <p:cNvSpPr/>
          <p:nvPr/>
        </p:nvSpPr>
        <p:spPr>
          <a:xfrm>
            <a:off x="8656320" y="2911097"/>
            <a:ext cx="208280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calculate_income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2599EA5-BB05-7227-9665-C008D51C34C9}"/>
              </a:ext>
            </a:extLst>
          </p:cNvPr>
          <p:cNvSpPr/>
          <p:nvPr/>
        </p:nvSpPr>
        <p:spPr>
          <a:xfrm>
            <a:off x="8656320" y="3632457"/>
            <a:ext cx="208280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calculate_tax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24C68BB-5809-FE03-5FBB-534F5BF8015E}"/>
              </a:ext>
            </a:extLst>
          </p:cNvPr>
          <p:cNvSpPr/>
          <p:nvPr/>
        </p:nvSpPr>
        <p:spPr>
          <a:xfrm>
            <a:off x="8656320" y="4757984"/>
            <a:ext cx="208280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create_report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EDC4045-7063-2C29-0340-5E01B31C60A5}"/>
              </a:ext>
            </a:extLst>
          </p:cNvPr>
          <p:cNvSpPr/>
          <p:nvPr/>
        </p:nvSpPr>
        <p:spPr>
          <a:xfrm>
            <a:off x="8656320" y="5472319"/>
            <a:ext cx="208280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display_report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39" name="Arrow: Down 38">
            <a:extLst>
              <a:ext uri="{FF2B5EF4-FFF2-40B4-BE49-F238E27FC236}">
                <a16:creationId xmlns:a16="http://schemas.microsoft.com/office/drawing/2014/main" id="{2A7EFD32-F876-468D-23C7-B5E18E2AD37A}"/>
              </a:ext>
            </a:extLst>
          </p:cNvPr>
          <p:cNvSpPr/>
          <p:nvPr/>
        </p:nvSpPr>
        <p:spPr>
          <a:xfrm>
            <a:off x="9548368" y="716875"/>
            <a:ext cx="192024" cy="26847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209FC397-4F42-3E91-1FFA-8095E8BED658}"/>
              </a:ext>
            </a:extLst>
          </p:cNvPr>
          <p:cNvSpPr/>
          <p:nvPr/>
        </p:nvSpPr>
        <p:spPr>
          <a:xfrm>
            <a:off x="9548368" y="1452974"/>
            <a:ext cx="192024" cy="26847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Arrow: Down 40">
            <a:extLst>
              <a:ext uri="{FF2B5EF4-FFF2-40B4-BE49-F238E27FC236}">
                <a16:creationId xmlns:a16="http://schemas.microsoft.com/office/drawing/2014/main" id="{A3CBD32B-4E84-4A8F-3852-72103333C230}"/>
              </a:ext>
            </a:extLst>
          </p:cNvPr>
          <p:cNvSpPr/>
          <p:nvPr/>
        </p:nvSpPr>
        <p:spPr>
          <a:xfrm>
            <a:off x="9548368" y="2203408"/>
            <a:ext cx="192024" cy="649519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Arrow: Down 41">
            <a:extLst>
              <a:ext uri="{FF2B5EF4-FFF2-40B4-BE49-F238E27FC236}">
                <a16:creationId xmlns:a16="http://schemas.microsoft.com/office/drawing/2014/main" id="{E3E160BD-F105-1A24-C281-58ECA55B68AE}"/>
              </a:ext>
            </a:extLst>
          </p:cNvPr>
          <p:cNvSpPr/>
          <p:nvPr/>
        </p:nvSpPr>
        <p:spPr>
          <a:xfrm>
            <a:off x="9548368" y="3316948"/>
            <a:ext cx="192024" cy="26847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row: Down 42">
            <a:extLst>
              <a:ext uri="{FF2B5EF4-FFF2-40B4-BE49-F238E27FC236}">
                <a16:creationId xmlns:a16="http://schemas.microsoft.com/office/drawing/2014/main" id="{E41476A9-56D2-FEA7-445A-AC99D912A958}"/>
              </a:ext>
            </a:extLst>
          </p:cNvPr>
          <p:cNvSpPr/>
          <p:nvPr/>
        </p:nvSpPr>
        <p:spPr>
          <a:xfrm>
            <a:off x="9548368" y="4074459"/>
            <a:ext cx="192024" cy="649519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row: Down 43">
            <a:extLst>
              <a:ext uri="{FF2B5EF4-FFF2-40B4-BE49-F238E27FC236}">
                <a16:creationId xmlns:a16="http://schemas.microsoft.com/office/drawing/2014/main" id="{77BBB35C-9FD5-CDD4-BE75-2053EDC4CD1E}"/>
              </a:ext>
            </a:extLst>
          </p:cNvPr>
          <p:cNvSpPr/>
          <p:nvPr/>
        </p:nvSpPr>
        <p:spPr>
          <a:xfrm>
            <a:off x="9548368" y="5160858"/>
            <a:ext cx="192024" cy="26847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56C0D49-7AB1-C7A6-6EB3-E03281E7E120}"/>
              </a:ext>
            </a:extLst>
          </p:cNvPr>
          <p:cNvSpPr/>
          <p:nvPr/>
        </p:nvSpPr>
        <p:spPr>
          <a:xfrm>
            <a:off x="8306918" y="630879"/>
            <a:ext cx="2737002" cy="1853764"/>
          </a:xfrm>
          <a:prstGeom prst="rect">
            <a:avLst/>
          </a:prstGeom>
          <a:noFill/>
          <a:ln w="38100">
            <a:solidFill>
              <a:srgbClr val="FED73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E4E1E25-C677-89F0-F2D6-C4781A7B70FF}"/>
              </a:ext>
            </a:extLst>
          </p:cNvPr>
          <p:cNvSpPr/>
          <p:nvPr/>
        </p:nvSpPr>
        <p:spPr>
          <a:xfrm>
            <a:off x="8329219" y="2630845"/>
            <a:ext cx="2737002" cy="3510280"/>
          </a:xfrm>
          <a:prstGeom prst="rect">
            <a:avLst/>
          </a:prstGeom>
          <a:noFill/>
          <a:ln w="38100">
            <a:solidFill>
              <a:srgbClr val="FED73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45D3360-164E-DDDC-28FD-66821B761F46}"/>
              </a:ext>
            </a:extLst>
          </p:cNvPr>
          <p:cNvSpPr/>
          <p:nvPr/>
        </p:nvSpPr>
        <p:spPr>
          <a:xfrm>
            <a:off x="1359939" y="4125483"/>
            <a:ext cx="5151120" cy="791957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443357-26F7-98C8-7723-6B0459F91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656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BF5A0-CDED-7FAA-7CCF-F430349BA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603D8-DBAB-B5F5-6FD8-D606FA4E13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32080"/>
            <a:ext cx="11612880" cy="573722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/>
              <a:t>Hierarchy of functional tests</a:t>
            </a:r>
          </a:p>
        </p:txBody>
      </p:sp>
      <p:pic>
        <p:nvPicPr>
          <p:cNvPr id="3" name="Picture 2" descr="What is Unit Testing? A Comprehensive Guide">
            <a:extLst>
              <a:ext uri="{FF2B5EF4-FFF2-40B4-BE49-F238E27FC236}">
                <a16:creationId xmlns:a16="http://schemas.microsoft.com/office/drawing/2014/main" id="{02D2A22B-B960-7EFC-C879-61ECB3E57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4703" y="1585498"/>
            <a:ext cx="7102545" cy="3941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4A4DEFD-6983-34A2-18C2-D9FCB2EAFFF4}"/>
              </a:ext>
            </a:extLst>
          </p:cNvPr>
          <p:cNvSpPr/>
          <p:nvPr/>
        </p:nvSpPr>
        <p:spPr>
          <a:xfrm>
            <a:off x="8453120" y="842962"/>
            <a:ext cx="2448560" cy="14630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5E0F03-2B9E-BF8C-4618-5E600CBFDA8C}"/>
              </a:ext>
            </a:extLst>
          </p:cNvPr>
          <p:cNvSpPr/>
          <p:nvPr/>
        </p:nvSpPr>
        <p:spPr>
          <a:xfrm>
            <a:off x="8453120" y="2697480"/>
            <a:ext cx="2448560" cy="14630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84A51A-2532-0ECD-44F7-63219EE8136F}"/>
              </a:ext>
            </a:extLst>
          </p:cNvPr>
          <p:cNvSpPr/>
          <p:nvPr/>
        </p:nvSpPr>
        <p:spPr>
          <a:xfrm>
            <a:off x="8453120" y="4551998"/>
            <a:ext cx="2448560" cy="14630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82F18B-25DD-1F3A-F49E-DC82E17A52C5}"/>
              </a:ext>
            </a:extLst>
          </p:cNvPr>
          <p:cNvSpPr txBox="1"/>
          <p:nvPr/>
        </p:nvSpPr>
        <p:spPr>
          <a:xfrm>
            <a:off x="7000945" y="1123833"/>
            <a:ext cx="1305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Module 1: Reading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1E0E22-3143-BF98-63E8-86DD86466A74}"/>
              </a:ext>
            </a:extLst>
          </p:cNvPr>
          <p:cNvSpPr txBox="1"/>
          <p:nvPr/>
        </p:nvSpPr>
        <p:spPr>
          <a:xfrm>
            <a:off x="7000944" y="2967335"/>
            <a:ext cx="1305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Module 2: Business logic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8BEDDF-43E5-C68F-5FB4-68187C39B94A}"/>
              </a:ext>
            </a:extLst>
          </p:cNvPr>
          <p:cNvSpPr txBox="1"/>
          <p:nvPr/>
        </p:nvSpPr>
        <p:spPr>
          <a:xfrm>
            <a:off x="7000943" y="4821853"/>
            <a:ext cx="1305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Module 3: Process 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A13196-0325-CF8B-8080-535B978EBFB7}"/>
              </a:ext>
            </a:extLst>
          </p:cNvPr>
          <p:cNvSpPr/>
          <p:nvPr/>
        </p:nvSpPr>
        <p:spPr>
          <a:xfrm>
            <a:off x="8788400" y="1033966"/>
            <a:ext cx="181864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read_user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63743D-B8F2-803F-A271-7A203614D7AD}"/>
              </a:ext>
            </a:extLst>
          </p:cNvPr>
          <p:cNvSpPr/>
          <p:nvPr/>
        </p:nvSpPr>
        <p:spPr>
          <a:xfrm>
            <a:off x="6847840" y="568960"/>
            <a:ext cx="5151120" cy="57200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9AB4A9-590D-E550-5B25-33F0396D4481}"/>
              </a:ext>
            </a:extLst>
          </p:cNvPr>
          <p:cNvSpPr txBox="1"/>
          <p:nvPr/>
        </p:nvSpPr>
        <p:spPr>
          <a:xfrm>
            <a:off x="8453120" y="188555"/>
            <a:ext cx="2382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Example program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64D589-D1D4-49DA-DF9D-90BCB82D008C}"/>
              </a:ext>
            </a:extLst>
          </p:cNvPr>
          <p:cNvSpPr/>
          <p:nvPr/>
        </p:nvSpPr>
        <p:spPr>
          <a:xfrm>
            <a:off x="8788400" y="1755232"/>
            <a:ext cx="181864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read_db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3307A7-3143-29FA-E814-D4A71182FBC6}"/>
              </a:ext>
            </a:extLst>
          </p:cNvPr>
          <p:cNvSpPr/>
          <p:nvPr/>
        </p:nvSpPr>
        <p:spPr>
          <a:xfrm>
            <a:off x="8656320" y="2911097"/>
            <a:ext cx="208280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calculate_income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C2F6A5-1949-080B-EB4C-F968DAE191AE}"/>
              </a:ext>
            </a:extLst>
          </p:cNvPr>
          <p:cNvSpPr/>
          <p:nvPr/>
        </p:nvSpPr>
        <p:spPr>
          <a:xfrm>
            <a:off x="8656320" y="3632457"/>
            <a:ext cx="208280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calculate_tax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584862-B317-6271-4DCA-C7279328A210}"/>
              </a:ext>
            </a:extLst>
          </p:cNvPr>
          <p:cNvSpPr/>
          <p:nvPr/>
        </p:nvSpPr>
        <p:spPr>
          <a:xfrm>
            <a:off x="8656320" y="4757984"/>
            <a:ext cx="208280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create_report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C81F43-EEDF-CD35-9777-6D93D51600AF}"/>
              </a:ext>
            </a:extLst>
          </p:cNvPr>
          <p:cNvSpPr/>
          <p:nvPr/>
        </p:nvSpPr>
        <p:spPr>
          <a:xfrm>
            <a:off x="8656320" y="5472319"/>
            <a:ext cx="2082800" cy="329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display_report</a:t>
            </a:r>
            <a:r>
              <a:rPr lang="en-US" sz="16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2590D7CB-369F-7DA5-E719-4B1BA7BAE9C8}"/>
              </a:ext>
            </a:extLst>
          </p:cNvPr>
          <p:cNvSpPr/>
          <p:nvPr/>
        </p:nvSpPr>
        <p:spPr>
          <a:xfrm>
            <a:off x="9548368" y="716875"/>
            <a:ext cx="192024" cy="26847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64BBE233-18AF-F306-087A-F73C93DB12A5}"/>
              </a:ext>
            </a:extLst>
          </p:cNvPr>
          <p:cNvSpPr/>
          <p:nvPr/>
        </p:nvSpPr>
        <p:spPr>
          <a:xfrm>
            <a:off x="9548368" y="1452974"/>
            <a:ext cx="192024" cy="26847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7538D560-0D15-66F6-6236-E7BC732672FA}"/>
              </a:ext>
            </a:extLst>
          </p:cNvPr>
          <p:cNvSpPr/>
          <p:nvPr/>
        </p:nvSpPr>
        <p:spPr>
          <a:xfrm>
            <a:off x="9548368" y="2203408"/>
            <a:ext cx="192024" cy="649519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D305E8DB-B5CD-80DD-D83C-3A31EF583A92}"/>
              </a:ext>
            </a:extLst>
          </p:cNvPr>
          <p:cNvSpPr/>
          <p:nvPr/>
        </p:nvSpPr>
        <p:spPr>
          <a:xfrm>
            <a:off x="9548368" y="3316948"/>
            <a:ext cx="192024" cy="26847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1654152A-72AB-5B37-A070-9060BCCA0471}"/>
              </a:ext>
            </a:extLst>
          </p:cNvPr>
          <p:cNvSpPr/>
          <p:nvPr/>
        </p:nvSpPr>
        <p:spPr>
          <a:xfrm>
            <a:off x="9548368" y="4074459"/>
            <a:ext cx="192024" cy="649519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F552ADC9-048C-C852-9B90-FEEEE0898230}"/>
              </a:ext>
            </a:extLst>
          </p:cNvPr>
          <p:cNvSpPr/>
          <p:nvPr/>
        </p:nvSpPr>
        <p:spPr>
          <a:xfrm>
            <a:off x="9548368" y="5160858"/>
            <a:ext cx="192024" cy="26847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B6D28E-5B89-6018-9A95-F9E775E203E1}"/>
              </a:ext>
            </a:extLst>
          </p:cNvPr>
          <p:cNvSpPr/>
          <p:nvPr/>
        </p:nvSpPr>
        <p:spPr>
          <a:xfrm>
            <a:off x="1359939" y="1721445"/>
            <a:ext cx="5151120" cy="243907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1596DE-7F59-7A05-D0E0-07F6CCBD95E1}"/>
              </a:ext>
            </a:extLst>
          </p:cNvPr>
          <p:cNvSpPr/>
          <p:nvPr/>
        </p:nvSpPr>
        <p:spPr>
          <a:xfrm>
            <a:off x="8656320" y="911788"/>
            <a:ext cx="2082800" cy="622556"/>
          </a:xfrm>
          <a:prstGeom prst="rect">
            <a:avLst/>
          </a:prstGeom>
          <a:noFill/>
          <a:ln w="19050">
            <a:solidFill>
              <a:srgbClr val="BF3DC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877FDCE-1B4C-1E70-2DA7-5BC49A235665}"/>
              </a:ext>
            </a:extLst>
          </p:cNvPr>
          <p:cNvSpPr/>
          <p:nvPr/>
        </p:nvSpPr>
        <p:spPr>
          <a:xfrm>
            <a:off x="8656320" y="1602577"/>
            <a:ext cx="2082800" cy="622556"/>
          </a:xfrm>
          <a:prstGeom prst="rect">
            <a:avLst/>
          </a:prstGeom>
          <a:noFill/>
          <a:ln w="19050">
            <a:solidFill>
              <a:srgbClr val="BF3DC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247513C-7E75-7F03-8544-0B19D4D3C4D5}"/>
              </a:ext>
            </a:extLst>
          </p:cNvPr>
          <p:cNvSpPr/>
          <p:nvPr/>
        </p:nvSpPr>
        <p:spPr>
          <a:xfrm>
            <a:off x="8597979" y="2787230"/>
            <a:ext cx="2234081" cy="571225"/>
          </a:xfrm>
          <a:prstGeom prst="rect">
            <a:avLst/>
          </a:prstGeom>
          <a:noFill/>
          <a:ln w="19050">
            <a:solidFill>
              <a:srgbClr val="BF3DC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DC9548F-8CE2-6205-8744-786A891E2C98}"/>
              </a:ext>
            </a:extLst>
          </p:cNvPr>
          <p:cNvSpPr/>
          <p:nvPr/>
        </p:nvSpPr>
        <p:spPr>
          <a:xfrm>
            <a:off x="8597979" y="3505791"/>
            <a:ext cx="2234081" cy="571225"/>
          </a:xfrm>
          <a:prstGeom prst="rect">
            <a:avLst/>
          </a:prstGeom>
          <a:noFill/>
          <a:ln w="19050">
            <a:solidFill>
              <a:srgbClr val="BF3DC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06F9A7B-726E-F565-BD9C-565C516761BF}"/>
              </a:ext>
            </a:extLst>
          </p:cNvPr>
          <p:cNvSpPr/>
          <p:nvPr/>
        </p:nvSpPr>
        <p:spPr>
          <a:xfrm>
            <a:off x="8597979" y="4662408"/>
            <a:ext cx="2234081" cy="571225"/>
          </a:xfrm>
          <a:prstGeom prst="rect">
            <a:avLst/>
          </a:prstGeom>
          <a:noFill/>
          <a:ln w="19050">
            <a:solidFill>
              <a:srgbClr val="BF3DC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85C2F51-25CE-3E02-D0A2-56903D7A58B4}"/>
              </a:ext>
            </a:extLst>
          </p:cNvPr>
          <p:cNvSpPr/>
          <p:nvPr/>
        </p:nvSpPr>
        <p:spPr>
          <a:xfrm>
            <a:off x="8597979" y="5329209"/>
            <a:ext cx="2234081" cy="571225"/>
          </a:xfrm>
          <a:prstGeom prst="rect">
            <a:avLst/>
          </a:prstGeom>
          <a:noFill/>
          <a:ln w="19050">
            <a:solidFill>
              <a:srgbClr val="BF3DC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9F42E74D-F52F-5036-D802-DBF5EAAA2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645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94B82-A38E-EAE2-31A3-6DBDE2A24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09279-4F0B-106D-C719-E36A333386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32080"/>
            <a:ext cx="9144000" cy="573722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/>
              <a:t>A calculator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8443A0-0497-7438-7386-6951EC44863A}"/>
              </a:ext>
            </a:extLst>
          </p:cNvPr>
          <p:cNvSpPr txBox="1"/>
          <p:nvPr/>
        </p:nvSpPr>
        <p:spPr>
          <a:xfrm>
            <a:off x="451909" y="6077247"/>
            <a:ext cx="922502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cs typeface="Calibri"/>
              </a:rPr>
              <a:t>Source: </a:t>
            </a:r>
            <a:r>
              <a:rPr lang="en-US" sz="1100" i="1" dirty="0">
                <a:solidFill>
                  <a:srgbClr val="5F826B"/>
                </a:solidFill>
                <a:latin typeface="Consolas"/>
                <a:ea typeface="+mn-lt"/>
                <a:cs typeface="+mn-lt"/>
                <a:hlinkClick r:id="rId2"/>
              </a:rPr>
              <a:t>https://www.testingdocs.com/junit-calculator-test-case-example/</a:t>
            </a:r>
            <a:endParaRPr lang="en-US" sz="1200" dirty="0">
              <a:ea typeface="+mn-lt"/>
              <a:cs typeface="+mn-lt"/>
            </a:endParaRPr>
          </a:p>
          <a:p>
            <a:r>
              <a:rPr lang="en-US" sz="1200" dirty="0">
                <a:cs typeface="Calibri"/>
              </a:rPr>
              <a:t>Source: </a:t>
            </a:r>
            <a:r>
              <a:rPr lang="en-US" sz="1100" i="1" dirty="0">
                <a:solidFill>
                  <a:srgbClr val="5F826B"/>
                </a:solidFill>
                <a:latin typeface="Consolas"/>
                <a:ea typeface="+mn-lt"/>
                <a:cs typeface="+mn-lt"/>
                <a:hlinkClick r:id="rId3"/>
              </a:rPr>
              <a:t>https://www.youtube.com/watch?v=vZm0lHciFsQ</a:t>
            </a:r>
            <a:endParaRPr lang="en-US" sz="1200" dirty="0">
              <a:ea typeface="+mn-lt"/>
              <a:cs typeface="+mn-lt"/>
            </a:endParaRP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25AEBAC0-A6D2-0BEF-3758-20A25690932B}"/>
              </a:ext>
            </a:extLst>
          </p:cNvPr>
          <p:cNvSpPr txBox="1">
            <a:spLocks/>
          </p:cNvSpPr>
          <p:nvPr/>
        </p:nvSpPr>
        <p:spPr>
          <a:xfrm>
            <a:off x="351431" y="1243324"/>
            <a:ext cx="8884009" cy="35844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36495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har char="•"/>
            </a:pPr>
            <a:r>
              <a:rPr lang="en-US" sz="2000" b="0" dirty="0">
                <a:solidFill>
                  <a:schemeClr val="tx1"/>
                </a:solidFill>
                <a:latin typeface="AmericanSans"/>
              </a:rPr>
              <a:t>Assume you have a Calculator class</a:t>
            </a:r>
          </a:p>
          <a:p>
            <a:pPr marL="342900" indent="-342900">
              <a:buChar char="•"/>
            </a:pPr>
            <a:endParaRPr lang="en-US" sz="2000" b="0" dirty="0">
              <a:solidFill>
                <a:schemeClr val="tx1"/>
              </a:solidFill>
              <a:latin typeface="AmericanSans"/>
            </a:endParaRPr>
          </a:p>
          <a:p>
            <a:pPr marL="342900" indent="-342900">
              <a:buChar char="•"/>
            </a:pPr>
            <a:r>
              <a:rPr lang="en-US" sz="2000" b="0" dirty="0">
                <a:solidFill>
                  <a:schemeClr val="tx1"/>
                </a:solidFill>
                <a:latin typeface="AmericanSans"/>
              </a:rPr>
              <a:t>The function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add(a, b)</a:t>
            </a:r>
            <a:r>
              <a:rPr lang="en-US" sz="2000" b="0" dirty="0">
                <a:solidFill>
                  <a:schemeClr val="tx1"/>
                </a:solidFill>
                <a:latin typeface="AmericanSans"/>
              </a:rPr>
              <a:t> is implemented with unit tests.</a:t>
            </a:r>
          </a:p>
          <a:p>
            <a:r>
              <a:rPr lang="en-US" sz="2000" b="0" dirty="0">
                <a:solidFill>
                  <a:schemeClr val="tx1"/>
                </a:solidFill>
                <a:latin typeface="AmericanSans"/>
                <a:hlinkClick r:id="rId4"/>
              </a:rPr>
              <a:t>https://github.com/sefop/training-testing-python/blob/main/src/calculator.py</a:t>
            </a:r>
            <a:r>
              <a:rPr lang="en-US" sz="2000" b="0" dirty="0">
                <a:solidFill>
                  <a:schemeClr val="tx1"/>
                </a:solidFill>
                <a:latin typeface="AmericanSans"/>
              </a:rPr>
              <a:t> </a:t>
            </a:r>
          </a:p>
          <a:p>
            <a:endParaRPr lang="en-US" sz="2000" dirty="0">
              <a:solidFill>
                <a:schemeClr val="tx1"/>
              </a:solidFill>
              <a:latin typeface="AmericanSans"/>
            </a:endParaRPr>
          </a:p>
          <a:p>
            <a:pPr marL="342900" indent="-342900">
              <a:buChar char="•"/>
            </a:pPr>
            <a:r>
              <a:rPr lang="en-US" sz="2000" b="0" dirty="0">
                <a:solidFill>
                  <a:schemeClr val="tx1"/>
                </a:solidFill>
                <a:latin typeface="AmericanSans"/>
              </a:rPr>
              <a:t>Let’s understand: </a:t>
            </a:r>
            <a:r>
              <a:rPr lang="en-US" sz="2000" dirty="0">
                <a:solidFill>
                  <a:schemeClr val="tx1"/>
                </a:solidFill>
                <a:latin typeface="AmericanSans"/>
              </a:rPr>
              <a:t>what, where </a:t>
            </a:r>
            <a:r>
              <a:rPr lang="en-US" sz="2000" b="0" dirty="0">
                <a:solidFill>
                  <a:schemeClr val="tx1"/>
                </a:solidFill>
                <a:latin typeface="AmericanSans"/>
              </a:rPr>
              <a:t>and</a:t>
            </a:r>
            <a:r>
              <a:rPr lang="en-US" sz="2000" dirty="0">
                <a:solidFill>
                  <a:schemeClr val="tx1"/>
                </a:solidFill>
                <a:latin typeface="AmericanSans"/>
              </a:rPr>
              <a:t> how </a:t>
            </a:r>
            <a:r>
              <a:rPr lang="en-US" sz="2000" b="0" dirty="0">
                <a:solidFill>
                  <a:schemeClr val="tx1"/>
                </a:solidFill>
                <a:latin typeface="AmericanSans"/>
              </a:rPr>
              <a:t>this was done.</a:t>
            </a:r>
          </a:p>
        </p:txBody>
      </p:sp>
      <p:pic>
        <p:nvPicPr>
          <p:cNvPr id="6" name="Graphic 5" descr="Calculator with solid fill">
            <a:extLst>
              <a:ext uri="{FF2B5EF4-FFF2-40B4-BE49-F238E27FC236}">
                <a16:creationId xmlns:a16="http://schemas.microsoft.com/office/drawing/2014/main" id="{8FDA7BDA-691E-2841-21C1-5E87DC44C0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43067" y="1063733"/>
            <a:ext cx="3975571" cy="394366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820CDD-32C2-8C9C-BC9C-7F3D9303D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915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D6D09-141A-918B-8F4C-A4C8B7E36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0DA08-D866-EB0F-1FA3-B45D552B0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32080"/>
            <a:ext cx="9144000" cy="573722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/>
              <a:t>Example: adding two integers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F37D54-E061-B257-CB90-3B3498682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FC760C-9252-0167-B6B5-CCAFAE1C4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05802"/>
            <a:ext cx="5554448" cy="602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224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1B39E-C943-D0E7-4CC4-F3FC59DDC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668FAC-BB13-D76F-0867-BA3D3F08E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B1ED21-2466-345B-57F5-B30081772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705802"/>
            <a:ext cx="5554448" cy="602240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C094C70-05F1-80F8-5448-B93A1520B9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32080"/>
            <a:ext cx="11694160" cy="573722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/>
              <a:t>Definition: a module has an </a:t>
            </a:r>
            <a:r>
              <a:rPr lang="en-US" sz="3600" b="1" dirty="0">
                <a:solidFill>
                  <a:srgbClr val="FF0000"/>
                </a:solidFill>
              </a:rPr>
              <a:t>interface</a:t>
            </a:r>
            <a:r>
              <a:rPr lang="en-US" sz="3600" dirty="0"/>
              <a:t> and an </a:t>
            </a:r>
            <a:r>
              <a:rPr lang="en-US" sz="3600" b="1" dirty="0">
                <a:solidFill>
                  <a:srgbClr val="5959EB"/>
                </a:solidFill>
              </a:rPr>
              <a:t>implementation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C2E7C8-F583-E9BE-FBFE-563A165210EF}"/>
              </a:ext>
            </a:extLst>
          </p:cNvPr>
          <p:cNvSpPr/>
          <p:nvPr/>
        </p:nvSpPr>
        <p:spPr>
          <a:xfrm>
            <a:off x="91440" y="705802"/>
            <a:ext cx="5554448" cy="28857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E331AD-57ED-2B37-ACC9-84E4B4610FF8}"/>
              </a:ext>
            </a:extLst>
          </p:cNvPr>
          <p:cNvSpPr/>
          <p:nvPr/>
        </p:nvSpPr>
        <p:spPr>
          <a:xfrm>
            <a:off x="91441" y="3623852"/>
            <a:ext cx="5554448" cy="3104355"/>
          </a:xfrm>
          <a:prstGeom prst="rect">
            <a:avLst/>
          </a:prstGeom>
          <a:noFill/>
          <a:ln w="38100">
            <a:solidFill>
              <a:srgbClr val="5959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455AB6F0-C0CC-6DDE-8E4E-7A00E7543E74}"/>
              </a:ext>
            </a:extLst>
          </p:cNvPr>
          <p:cNvSpPr txBox="1">
            <a:spLocks/>
          </p:cNvSpPr>
          <p:nvPr/>
        </p:nvSpPr>
        <p:spPr>
          <a:xfrm>
            <a:off x="5938520" y="983682"/>
            <a:ext cx="6103089" cy="26012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36495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000" b="0" dirty="0">
                <a:solidFill>
                  <a:schemeClr val="tx1"/>
                </a:solidFill>
                <a:latin typeface="AmericanSans"/>
              </a:rPr>
              <a:t>This is the </a:t>
            </a:r>
            <a:r>
              <a:rPr lang="en-US" sz="2000" dirty="0">
                <a:solidFill>
                  <a:srgbClr val="FF0000"/>
                </a:solidFill>
                <a:latin typeface="AmericanSans"/>
              </a:rPr>
              <a:t>interface</a:t>
            </a:r>
            <a:r>
              <a:rPr lang="en-US" sz="2000" b="0" dirty="0">
                <a:solidFill>
                  <a:schemeClr val="tx1"/>
                </a:solidFill>
                <a:latin typeface="AmericanSans"/>
              </a:rPr>
              <a:t> (“signature”, “API” or “contract”) of the module. Specifies what it does, inputs conditions and outputs. It </a:t>
            </a:r>
            <a:r>
              <a:rPr lang="en-US" sz="2000" b="0" u="sng" dirty="0">
                <a:solidFill>
                  <a:schemeClr val="tx1"/>
                </a:solidFill>
                <a:latin typeface="AmericanSans"/>
              </a:rPr>
              <a:t>should not specify how the contract is fulfilled</a:t>
            </a:r>
            <a:r>
              <a:rPr lang="en-US" sz="2000" b="0" dirty="0">
                <a:solidFill>
                  <a:schemeClr val="tx1"/>
                </a:solidFill>
                <a:latin typeface="AmericanSans"/>
              </a:rPr>
              <a:t>.</a:t>
            </a:r>
          </a:p>
          <a:p>
            <a:pPr>
              <a:lnSpc>
                <a:spcPct val="100000"/>
              </a:lnSpc>
            </a:pPr>
            <a:endParaRPr lang="es-CL" sz="2000" b="0" dirty="0">
              <a:solidFill>
                <a:schemeClr val="tx1"/>
              </a:solidFill>
              <a:latin typeface="AmericanSans"/>
            </a:endParaRPr>
          </a:p>
          <a:p>
            <a:pPr>
              <a:lnSpc>
                <a:spcPct val="100000"/>
              </a:lnSpc>
            </a:pPr>
            <a:r>
              <a:rPr lang="en-US" sz="2000" b="0" dirty="0">
                <a:solidFill>
                  <a:schemeClr val="tx1"/>
                </a:solidFill>
                <a:latin typeface="AmericanSans"/>
              </a:rPr>
              <a:t>Note: comments are an integral part of the </a:t>
            </a:r>
            <a:r>
              <a:rPr lang="en-US" sz="2000" dirty="0">
                <a:solidFill>
                  <a:srgbClr val="FF0000"/>
                </a:solidFill>
                <a:latin typeface="AmericanSans"/>
              </a:rPr>
              <a:t>interface</a:t>
            </a:r>
            <a:r>
              <a:rPr lang="en-US" sz="2000" b="0" dirty="0">
                <a:solidFill>
                  <a:schemeClr val="tx1"/>
                </a:solidFill>
                <a:latin typeface="AmericanSans"/>
              </a:rPr>
              <a:t>.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FA3EDC71-FB5E-7754-05F6-E9B3E148AB74}"/>
              </a:ext>
            </a:extLst>
          </p:cNvPr>
          <p:cNvSpPr txBox="1">
            <a:spLocks/>
          </p:cNvSpPr>
          <p:nvPr/>
        </p:nvSpPr>
        <p:spPr>
          <a:xfrm>
            <a:off x="5938520" y="4029739"/>
            <a:ext cx="5847080" cy="21903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36495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000" b="0" dirty="0">
                <a:solidFill>
                  <a:schemeClr val="tx1"/>
                </a:solidFill>
                <a:latin typeface="AmericanSans"/>
              </a:rPr>
              <a:t>This is the </a:t>
            </a:r>
            <a:r>
              <a:rPr lang="en-US" sz="2000" dirty="0">
                <a:solidFill>
                  <a:srgbClr val="5959EB"/>
                </a:solidFill>
                <a:latin typeface="AmericanSans"/>
              </a:rPr>
              <a:t>implementation</a:t>
            </a:r>
            <a:r>
              <a:rPr lang="en-US" sz="2000" b="0" dirty="0">
                <a:solidFill>
                  <a:schemeClr val="tx1"/>
                </a:solidFill>
                <a:latin typeface="AmericanSans"/>
              </a:rPr>
              <a:t> of the module. Also called “implementation details”.</a:t>
            </a:r>
          </a:p>
          <a:p>
            <a:pPr>
              <a:lnSpc>
                <a:spcPct val="100000"/>
              </a:lnSpc>
            </a:pPr>
            <a:r>
              <a:rPr lang="en-US" sz="2000" b="0" dirty="0">
                <a:solidFill>
                  <a:schemeClr val="tx1"/>
                </a:solidFill>
                <a:latin typeface="AmericanSans"/>
              </a:rPr>
              <a:t>There could be many </a:t>
            </a:r>
            <a:r>
              <a:rPr lang="en-US" sz="2000" dirty="0">
                <a:solidFill>
                  <a:srgbClr val="5959EB"/>
                </a:solidFill>
                <a:latin typeface="AmericanSans"/>
              </a:rPr>
              <a:t>implementations</a:t>
            </a:r>
            <a:r>
              <a:rPr lang="en-US" sz="2000" b="0" dirty="0">
                <a:solidFill>
                  <a:schemeClr val="tx1"/>
                </a:solidFill>
                <a:latin typeface="AmericanSans"/>
              </a:rPr>
              <a:t> for a single </a:t>
            </a:r>
            <a:r>
              <a:rPr lang="en-US" sz="2000" dirty="0">
                <a:solidFill>
                  <a:srgbClr val="FF0000"/>
                </a:solidFill>
                <a:latin typeface="AmericanSans"/>
              </a:rPr>
              <a:t>interface</a:t>
            </a:r>
            <a:r>
              <a:rPr lang="en-US" sz="2000" b="0" dirty="0">
                <a:solidFill>
                  <a:schemeClr val="tx1"/>
                </a:solidFill>
                <a:latin typeface="AmericanSans"/>
              </a:rPr>
              <a:t>. </a:t>
            </a:r>
          </a:p>
          <a:p>
            <a:pPr>
              <a:lnSpc>
                <a:spcPct val="100000"/>
              </a:lnSpc>
            </a:pPr>
            <a:r>
              <a:rPr lang="en-US" sz="2000" b="0" dirty="0">
                <a:solidFill>
                  <a:schemeClr val="tx1"/>
                </a:solidFill>
                <a:latin typeface="AmericanSans"/>
              </a:rPr>
              <a:t>Best practice: it should be hidden from the clients to avoid coupling.</a:t>
            </a:r>
          </a:p>
        </p:txBody>
      </p:sp>
    </p:spTree>
    <p:extLst>
      <p:ext uri="{BB962C8B-B14F-4D97-AF65-F5344CB8AC3E}">
        <p14:creationId xmlns:p14="http://schemas.microsoft.com/office/powerpoint/2010/main" val="176644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62266-A326-8DE5-3554-2ED08C1CE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D0F464-22C1-6F0C-42B2-88B4C052E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FC7C-F3DD-4CCA-A309-41102AB6D153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FC0719-0646-55A7-9E9A-D96E0949A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705802"/>
            <a:ext cx="5554448" cy="602240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BD47AE4-9BCF-F0B1-FF81-73E53261AC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32080"/>
            <a:ext cx="11694160" cy="573722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b="1" dirty="0"/>
              <a:t>What</a:t>
            </a:r>
            <a:r>
              <a:rPr lang="en-US" sz="3600" dirty="0"/>
              <a:t> to test? The “</a:t>
            </a:r>
            <a:r>
              <a:rPr lang="en-US" sz="3600" b="1" dirty="0"/>
              <a:t>behaviors”</a:t>
            </a:r>
            <a:r>
              <a:rPr lang="en-US" sz="3600" dirty="0"/>
              <a:t> of the </a:t>
            </a:r>
            <a:r>
              <a:rPr lang="en-US" sz="3600" b="1" dirty="0">
                <a:solidFill>
                  <a:srgbClr val="FF0000"/>
                </a:solidFill>
              </a:rPr>
              <a:t>interface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B0B4D0-EFA5-2258-BC0A-5BD28A967985}"/>
              </a:ext>
            </a:extLst>
          </p:cNvPr>
          <p:cNvSpPr/>
          <p:nvPr/>
        </p:nvSpPr>
        <p:spPr>
          <a:xfrm>
            <a:off x="91440" y="705802"/>
            <a:ext cx="5554448" cy="28857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1AD713-07B7-6B59-5D25-77D632141761}"/>
              </a:ext>
            </a:extLst>
          </p:cNvPr>
          <p:cNvSpPr/>
          <p:nvPr/>
        </p:nvSpPr>
        <p:spPr>
          <a:xfrm>
            <a:off x="91441" y="3623852"/>
            <a:ext cx="5554448" cy="3104355"/>
          </a:xfrm>
          <a:prstGeom prst="rect">
            <a:avLst/>
          </a:prstGeom>
          <a:noFill/>
          <a:ln w="38100">
            <a:solidFill>
              <a:srgbClr val="5959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4CE1DA-FBFF-56FE-1996-D9ACF0DD156A}"/>
              </a:ext>
            </a:extLst>
          </p:cNvPr>
          <p:cNvSpPr txBox="1">
            <a:spLocks/>
          </p:cNvSpPr>
          <p:nvPr/>
        </p:nvSpPr>
        <p:spPr>
          <a:xfrm>
            <a:off x="5938519" y="754006"/>
            <a:ext cx="6001843" cy="59742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36495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000" b="0" noProof="0" dirty="0">
                <a:solidFill>
                  <a:schemeClr val="tx1"/>
                </a:solidFill>
                <a:latin typeface="AmericanSans"/>
              </a:rPr>
              <a:t>An </a:t>
            </a:r>
            <a:r>
              <a:rPr lang="en-US" sz="2000" noProof="0" dirty="0">
                <a:solidFill>
                  <a:srgbClr val="FF0000"/>
                </a:solidFill>
                <a:latin typeface="AmericanSans"/>
              </a:rPr>
              <a:t>interface</a:t>
            </a:r>
            <a:r>
              <a:rPr lang="en-US" sz="2000" b="0" noProof="0" dirty="0">
                <a:solidFill>
                  <a:schemeClr val="tx1"/>
                </a:solidFill>
                <a:latin typeface="AmericanSans"/>
              </a:rPr>
              <a:t> has 1 or more behaviors:</a:t>
            </a:r>
          </a:p>
          <a:p>
            <a:pPr>
              <a:lnSpc>
                <a:spcPct val="100000"/>
              </a:lnSpc>
            </a:pPr>
            <a:r>
              <a:rPr lang="en-US" sz="2000" b="0" u="sng" noProof="0" dirty="0">
                <a:solidFill>
                  <a:schemeClr val="tx1"/>
                </a:solidFill>
                <a:latin typeface="AmericanSans"/>
              </a:rPr>
              <a:t>1. Base case or “happy path”:</a:t>
            </a:r>
          </a:p>
          <a:p>
            <a:pPr algn="ctr">
              <a:lnSpc>
                <a:spcPct val="100000"/>
              </a:lnSpc>
            </a:pPr>
            <a:r>
              <a:rPr lang="en-US" sz="2000" b="0" noProof="0" dirty="0">
                <a:solidFill>
                  <a:schemeClr val="tx1"/>
                </a:solidFill>
                <a:latin typeface="AmericanSans"/>
              </a:rPr>
              <a:t>add(3,4) = 7</a:t>
            </a:r>
          </a:p>
          <a:p>
            <a:pPr algn="ctr">
              <a:lnSpc>
                <a:spcPct val="100000"/>
              </a:lnSpc>
            </a:pPr>
            <a:endParaRPr lang="en-US" sz="1100" b="0" noProof="0" dirty="0">
              <a:solidFill>
                <a:schemeClr val="tx1"/>
              </a:solidFill>
              <a:latin typeface="AmericanSans"/>
            </a:endParaRPr>
          </a:p>
          <a:p>
            <a:pPr>
              <a:lnSpc>
                <a:spcPct val="100000"/>
              </a:lnSpc>
            </a:pPr>
            <a:r>
              <a:rPr lang="en-US" sz="2000" b="0" u="sng" dirty="0">
                <a:solidFill>
                  <a:schemeClr val="tx1"/>
                </a:solidFill>
                <a:latin typeface="AmericanSans"/>
              </a:rPr>
              <a:t>2. </a:t>
            </a:r>
            <a:r>
              <a:rPr lang="en-US" sz="2000" b="0" u="sng" noProof="0" dirty="0">
                <a:solidFill>
                  <a:schemeClr val="tx1"/>
                </a:solidFill>
                <a:latin typeface="AmericanSans"/>
              </a:rPr>
              <a:t>Commutativity:</a:t>
            </a:r>
          </a:p>
          <a:p>
            <a:pPr algn="ctr">
              <a:lnSpc>
                <a:spcPct val="100000"/>
              </a:lnSpc>
            </a:pPr>
            <a:r>
              <a:rPr lang="en-US" sz="2000" b="0" dirty="0">
                <a:solidFill>
                  <a:schemeClr val="tx1"/>
                </a:solidFill>
                <a:latin typeface="AmericanSans"/>
              </a:rPr>
              <a:t>add(</a:t>
            </a:r>
            <a:r>
              <a:rPr lang="en-US" sz="2000" b="0" noProof="0" dirty="0">
                <a:solidFill>
                  <a:schemeClr val="tx1"/>
                </a:solidFill>
                <a:latin typeface="AmericanSans"/>
              </a:rPr>
              <a:t>3,4) </a:t>
            </a:r>
            <a:r>
              <a:rPr lang="en-US" sz="2000" b="0" dirty="0">
                <a:solidFill>
                  <a:schemeClr val="tx1"/>
                </a:solidFill>
                <a:latin typeface="AmericanSans"/>
              </a:rPr>
              <a:t>= add(</a:t>
            </a:r>
            <a:r>
              <a:rPr lang="en-US" sz="2000" b="0" noProof="0" dirty="0">
                <a:solidFill>
                  <a:schemeClr val="tx1"/>
                </a:solidFill>
                <a:latin typeface="AmericanSans"/>
              </a:rPr>
              <a:t>4,3)</a:t>
            </a:r>
          </a:p>
          <a:p>
            <a:pPr algn="ctr">
              <a:lnSpc>
                <a:spcPct val="100000"/>
              </a:lnSpc>
            </a:pPr>
            <a:endParaRPr lang="en-US" sz="1100" b="0" noProof="0" dirty="0">
              <a:solidFill>
                <a:schemeClr val="tx1"/>
              </a:solidFill>
              <a:latin typeface="AmericanSans"/>
            </a:endParaRPr>
          </a:p>
          <a:p>
            <a:pPr>
              <a:lnSpc>
                <a:spcPct val="100000"/>
              </a:lnSpc>
            </a:pPr>
            <a:r>
              <a:rPr lang="en-US" sz="2000" b="0" u="sng" noProof="0" dirty="0">
                <a:solidFill>
                  <a:schemeClr val="tx1"/>
                </a:solidFill>
                <a:latin typeface="AmericanSans"/>
              </a:rPr>
              <a:t>3. Identity:</a:t>
            </a:r>
          </a:p>
          <a:p>
            <a:pPr algn="ctr">
              <a:lnSpc>
                <a:spcPct val="100000"/>
              </a:lnSpc>
            </a:pPr>
            <a:r>
              <a:rPr lang="en-US" sz="2000" b="0" dirty="0">
                <a:solidFill>
                  <a:schemeClr val="tx1"/>
                </a:solidFill>
                <a:latin typeface="AmericanSans"/>
              </a:rPr>
              <a:t>add(</a:t>
            </a:r>
            <a:r>
              <a:rPr lang="en-US" sz="2000" b="0" noProof="0" dirty="0">
                <a:solidFill>
                  <a:schemeClr val="tx1"/>
                </a:solidFill>
                <a:latin typeface="AmericanSans"/>
              </a:rPr>
              <a:t>3,0) = 3</a:t>
            </a:r>
          </a:p>
          <a:p>
            <a:pPr algn="ctr">
              <a:lnSpc>
                <a:spcPct val="100000"/>
              </a:lnSpc>
            </a:pPr>
            <a:endParaRPr lang="en-US" sz="1100" b="0" noProof="0" dirty="0">
              <a:solidFill>
                <a:schemeClr val="tx1"/>
              </a:solidFill>
              <a:latin typeface="AmericanSans"/>
            </a:endParaRPr>
          </a:p>
          <a:p>
            <a:pPr>
              <a:lnSpc>
                <a:spcPct val="100000"/>
              </a:lnSpc>
            </a:pPr>
            <a:r>
              <a:rPr lang="en-US" sz="2000" b="0" u="sng" noProof="0" dirty="0">
                <a:solidFill>
                  <a:schemeClr val="tx1"/>
                </a:solidFill>
                <a:latin typeface="AmericanSans"/>
              </a:rPr>
              <a:t>4. Exceptions:</a:t>
            </a:r>
          </a:p>
          <a:p>
            <a:pPr algn="ctr">
              <a:lnSpc>
                <a:spcPct val="100000"/>
              </a:lnSpc>
            </a:pPr>
            <a:r>
              <a:rPr lang="en-US" sz="2000" b="0" noProof="0" dirty="0">
                <a:solidFill>
                  <a:schemeClr val="tx1"/>
                </a:solidFill>
                <a:latin typeface="AmericanSans"/>
              </a:rPr>
              <a:t>Input error</a:t>
            </a:r>
          </a:p>
          <a:p>
            <a:pPr algn="ctr">
              <a:lnSpc>
                <a:spcPct val="100000"/>
              </a:lnSpc>
            </a:pPr>
            <a:r>
              <a:rPr lang="en-US" sz="2000" b="0" noProof="0" dirty="0">
                <a:solidFill>
                  <a:schemeClr val="tx1"/>
                </a:solidFill>
                <a:latin typeface="AmericanSans"/>
              </a:rPr>
              <a:t>Arithmetic over</a:t>
            </a:r>
            <a:r>
              <a:rPr lang="en-US" sz="2000" b="0" dirty="0">
                <a:solidFill>
                  <a:schemeClr val="tx1"/>
                </a:solidFill>
                <a:latin typeface="AmericanSans"/>
              </a:rPr>
              <a:t>flow error</a:t>
            </a:r>
            <a:endParaRPr lang="en-US" sz="2000" b="0" noProof="0" dirty="0">
              <a:solidFill>
                <a:schemeClr val="tx1"/>
              </a:solidFill>
              <a:latin typeface="AmericanSans"/>
            </a:endParaRPr>
          </a:p>
          <a:p>
            <a:pPr>
              <a:lnSpc>
                <a:spcPct val="100000"/>
              </a:lnSpc>
            </a:pPr>
            <a:endParaRPr lang="en-US" sz="2000" noProof="0" dirty="0">
              <a:solidFill>
                <a:schemeClr val="tx1"/>
              </a:solidFill>
              <a:latin typeface="AmericanSans"/>
            </a:endParaRPr>
          </a:p>
        </p:txBody>
      </p: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27FFE8A9-250D-7EF4-7C7F-648D1DA8E336}"/>
              </a:ext>
            </a:extLst>
          </p:cNvPr>
          <p:cNvSpPr/>
          <p:nvPr/>
        </p:nvSpPr>
        <p:spPr>
          <a:xfrm>
            <a:off x="10520855" y="3429000"/>
            <a:ext cx="1579704" cy="1166647"/>
          </a:xfrm>
          <a:prstGeom prst="wedgeRectCallout">
            <a:avLst>
              <a:gd name="adj1" fmla="val -65586"/>
              <a:gd name="adj2" fmla="val -28698"/>
            </a:avLst>
          </a:prstGeom>
          <a:solidFill>
            <a:srgbClr val="F8F7C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Each behavior may have 1 or multiple ‘cases’</a:t>
            </a:r>
          </a:p>
        </p:txBody>
      </p:sp>
    </p:spTree>
    <p:extLst>
      <p:ext uri="{BB962C8B-B14F-4D97-AF65-F5344CB8AC3E}">
        <p14:creationId xmlns:p14="http://schemas.microsoft.com/office/powerpoint/2010/main" val="4024351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DFFF196-562C-67A0-DD9E-4D1E7C25C506}"/>
              </a:ext>
            </a:extLst>
          </p:cNvPr>
          <p:cNvCxnSpPr>
            <a:cxnSpLocks/>
          </p:cNvCxnSpPr>
          <p:nvPr/>
        </p:nvCxnSpPr>
        <p:spPr>
          <a:xfrm>
            <a:off x="1150004" y="4581168"/>
            <a:ext cx="103947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222DFD4-8A3C-DF61-BA18-CB1D81E3E004}"/>
              </a:ext>
            </a:extLst>
          </p:cNvPr>
          <p:cNvCxnSpPr>
            <a:cxnSpLocks/>
          </p:cNvCxnSpPr>
          <p:nvPr/>
        </p:nvCxnSpPr>
        <p:spPr>
          <a:xfrm>
            <a:off x="2692155" y="4944052"/>
            <a:ext cx="0" cy="5581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2FABEA7-3B38-353B-10CC-786F35568EBA}"/>
              </a:ext>
            </a:extLst>
          </p:cNvPr>
          <p:cNvSpPr txBox="1">
            <a:spLocks/>
          </p:cNvSpPr>
          <p:nvPr/>
        </p:nvSpPr>
        <p:spPr>
          <a:xfrm>
            <a:off x="91440" y="132080"/>
            <a:ext cx="11694160" cy="573722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Where </a:t>
            </a:r>
            <a:r>
              <a:rPr lang="en-US" sz="3600" dirty="0"/>
              <a:t>to place the tests? In the mirror ‘test’ folder</a:t>
            </a:r>
            <a:endParaRPr lang="en-US" sz="3600" dirty="0">
              <a:solidFill>
                <a:srgbClr val="FF0000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A72B2D0-4865-9486-3916-BA74333A4DAA}"/>
              </a:ext>
            </a:extLst>
          </p:cNvPr>
          <p:cNvCxnSpPr/>
          <p:nvPr/>
        </p:nvCxnSpPr>
        <p:spPr>
          <a:xfrm>
            <a:off x="2736015" y="3106103"/>
            <a:ext cx="0" cy="5729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" name="Graphic 3" descr="Folder with solid fill">
            <a:extLst>
              <a:ext uri="{FF2B5EF4-FFF2-40B4-BE49-F238E27FC236}">
                <a16:creationId xmlns:a16="http://schemas.microsoft.com/office/drawing/2014/main" id="{58E821F5-AAC2-E70E-736C-C11DB4F129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34450" y="2050720"/>
            <a:ext cx="1403131" cy="1403131"/>
          </a:xfrm>
          <a:prstGeom prst="rect">
            <a:avLst/>
          </a:prstGeom>
        </p:spPr>
      </p:pic>
      <p:pic>
        <p:nvPicPr>
          <p:cNvPr id="6" name="Graphic 5" descr="Folder with solid fill">
            <a:extLst>
              <a:ext uri="{FF2B5EF4-FFF2-40B4-BE49-F238E27FC236}">
                <a16:creationId xmlns:a16="http://schemas.microsoft.com/office/drawing/2014/main" id="{BA3016A1-7A09-9A67-A9DC-C2BEBCF2CC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34450" y="3873924"/>
            <a:ext cx="1403131" cy="14031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9223BB-1273-BED3-033D-F7F678B90E30}"/>
              </a:ext>
            </a:extLst>
          </p:cNvPr>
          <p:cNvSpPr txBox="1"/>
          <p:nvPr/>
        </p:nvSpPr>
        <p:spPr>
          <a:xfrm>
            <a:off x="3437581" y="2521452"/>
            <a:ext cx="5940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src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9D81E8-46D1-8D6F-5053-3AAE1F0D95DB}"/>
              </a:ext>
            </a:extLst>
          </p:cNvPr>
          <p:cNvSpPr txBox="1"/>
          <p:nvPr/>
        </p:nvSpPr>
        <p:spPr>
          <a:xfrm>
            <a:off x="3437580" y="4344656"/>
            <a:ext cx="839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tests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FC4D99-F38F-6719-DA94-233262219B84}"/>
              </a:ext>
            </a:extLst>
          </p:cNvPr>
          <p:cNvSpPr txBox="1"/>
          <p:nvPr/>
        </p:nvSpPr>
        <p:spPr>
          <a:xfrm>
            <a:off x="4031590" y="3448172"/>
            <a:ext cx="19063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calculator.py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9CAE764-DE61-3E90-38A4-6BB94C63A2D7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2736015" y="3679005"/>
            <a:ext cx="12955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665F460-8CDA-DA6B-B565-08791FC86834}"/>
              </a:ext>
            </a:extLst>
          </p:cNvPr>
          <p:cNvSpPr txBox="1"/>
          <p:nvPr/>
        </p:nvSpPr>
        <p:spPr>
          <a:xfrm>
            <a:off x="4031590" y="5271379"/>
            <a:ext cx="25539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test_calculator.py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3C201E6-22E3-5DDF-D7E3-89AB1DADEB33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2692155" y="5492052"/>
            <a:ext cx="1339435" cy="101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2" name="Graphic 31" descr="Folder with solid fill">
            <a:extLst>
              <a:ext uri="{FF2B5EF4-FFF2-40B4-BE49-F238E27FC236}">
                <a16:creationId xmlns:a16="http://schemas.microsoft.com/office/drawing/2014/main" id="{3F0BC09B-B06C-F8F6-946A-C9CF6CCE38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8439" y="873699"/>
            <a:ext cx="1403131" cy="140313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F61DFA6-D79B-312C-7675-4AAB4669C36D}"/>
              </a:ext>
            </a:extLst>
          </p:cNvPr>
          <p:cNvSpPr txBox="1"/>
          <p:nvPr/>
        </p:nvSpPr>
        <p:spPr>
          <a:xfrm>
            <a:off x="2034450" y="1394134"/>
            <a:ext cx="3381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root folder of the project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B1232DC-A3DE-B984-928C-544CFA90FD0E}"/>
              </a:ext>
            </a:extLst>
          </p:cNvPr>
          <p:cNvCxnSpPr>
            <a:cxnSpLocks/>
          </p:cNvCxnSpPr>
          <p:nvPr/>
        </p:nvCxnSpPr>
        <p:spPr>
          <a:xfrm>
            <a:off x="1150004" y="1855799"/>
            <a:ext cx="0" cy="27253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1E0CFCE-34CD-B26C-67AF-7E02287DEDDC}"/>
              </a:ext>
            </a:extLst>
          </p:cNvPr>
          <p:cNvCxnSpPr>
            <a:cxnSpLocks/>
          </p:cNvCxnSpPr>
          <p:nvPr/>
        </p:nvCxnSpPr>
        <p:spPr>
          <a:xfrm>
            <a:off x="1150004" y="2773689"/>
            <a:ext cx="103947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Right Brace 38">
            <a:extLst>
              <a:ext uri="{FF2B5EF4-FFF2-40B4-BE49-F238E27FC236}">
                <a16:creationId xmlns:a16="http://schemas.microsoft.com/office/drawing/2014/main" id="{E834B6C6-C3EE-A6F1-8E0B-446E6F47CC3F}"/>
              </a:ext>
            </a:extLst>
          </p:cNvPr>
          <p:cNvSpPr/>
          <p:nvPr/>
        </p:nvSpPr>
        <p:spPr>
          <a:xfrm>
            <a:off x="6725920" y="2123440"/>
            <a:ext cx="507600" cy="1910080"/>
          </a:xfrm>
          <a:prstGeom prst="rightBrace">
            <a:avLst/>
          </a:prstGeom>
          <a:ln w="38100">
            <a:solidFill>
              <a:srgbClr val="5959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Brace 39">
            <a:extLst>
              <a:ext uri="{FF2B5EF4-FFF2-40B4-BE49-F238E27FC236}">
                <a16:creationId xmlns:a16="http://schemas.microsoft.com/office/drawing/2014/main" id="{3E1B9888-0D11-0648-D371-3896B6DCAF62}"/>
              </a:ext>
            </a:extLst>
          </p:cNvPr>
          <p:cNvSpPr/>
          <p:nvPr/>
        </p:nvSpPr>
        <p:spPr>
          <a:xfrm>
            <a:off x="6725920" y="4124960"/>
            <a:ext cx="507600" cy="1717040"/>
          </a:xfrm>
          <a:prstGeom prst="rightBrace">
            <a:avLst/>
          </a:prstGeom>
          <a:ln w="38100">
            <a:solidFill>
              <a:srgbClr val="00B05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D853927-9B5B-F78D-7522-72AC98CAF930}"/>
              </a:ext>
            </a:extLst>
          </p:cNvPr>
          <p:cNvSpPr txBox="1"/>
          <p:nvPr/>
        </p:nvSpPr>
        <p:spPr>
          <a:xfrm>
            <a:off x="7439570" y="2847647"/>
            <a:ext cx="2376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Production code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9B5C723-A7EE-B895-3864-9077CC2E8E94}"/>
              </a:ext>
            </a:extLst>
          </p:cNvPr>
          <p:cNvSpPr txBox="1"/>
          <p:nvPr/>
        </p:nvSpPr>
        <p:spPr>
          <a:xfrm>
            <a:off x="7439569" y="4713219"/>
            <a:ext cx="1838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Testing code</a:t>
            </a:r>
          </a:p>
        </p:txBody>
      </p:sp>
      <p:sp>
        <p:nvSpPr>
          <p:cNvPr id="43" name="Speech Bubble: Rectangle 42">
            <a:extLst>
              <a:ext uri="{FF2B5EF4-FFF2-40B4-BE49-F238E27FC236}">
                <a16:creationId xmlns:a16="http://schemas.microsoft.com/office/drawing/2014/main" id="{C758256A-D1AC-E576-5683-6DB1CD8D460E}"/>
              </a:ext>
            </a:extLst>
          </p:cNvPr>
          <p:cNvSpPr/>
          <p:nvPr/>
        </p:nvSpPr>
        <p:spPr>
          <a:xfrm>
            <a:off x="9450821" y="991940"/>
            <a:ext cx="2142075" cy="1166647"/>
          </a:xfrm>
          <a:prstGeom prst="wedgeRectCallout">
            <a:avLst>
              <a:gd name="adj1" fmla="val -66881"/>
              <a:gd name="adj2" fmla="val -18248"/>
            </a:avLst>
          </a:prstGeom>
          <a:solidFill>
            <a:srgbClr val="F8F7C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This is for Python. In other languages it is slightly different.</a:t>
            </a:r>
          </a:p>
        </p:txBody>
      </p:sp>
    </p:spTree>
    <p:extLst>
      <p:ext uri="{BB962C8B-B14F-4D97-AF65-F5344CB8AC3E}">
        <p14:creationId xmlns:p14="http://schemas.microsoft.com/office/powerpoint/2010/main" val="2849449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5D6DB-04A7-D281-DD36-5F740C944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00A2FA-D42F-6DCA-5F17-F06DBD1654B5}"/>
              </a:ext>
            </a:extLst>
          </p:cNvPr>
          <p:cNvSpPr txBox="1">
            <a:spLocks/>
          </p:cNvSpPr>
          <p:nvPr/>
        </p:nvSpPr>
        <p:spPr>
          <a:xfrm>
            <a:off x="91440" y="132080"/>
            <a:ext cx="12273280" cy="573722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3600" b="1" dirty="0"/>
              <a:t>COMO</a:t>
            </a:r>
            <a:r>
              <a:rPr lang="es-CL" sz="3600" dirty="0"/>
              <a:t> testear? Estructura estándar de un test unitario con              :</a:t>
            </a:r>
            <a:endParaRPr lang="es-CL" sz="3600" b="1" dirty="0">
              <a:solidFill>
                <a:srgbClr val="FF0000"/>
              </a:solid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4D7198A-8E89-CA4C-282E-AA711AA0869F}"/>
              </a:ext>
            </a:extLst>
          </p:cNvPr>
          <p:cNvSpPr txBox="1">
            <a:spLocks/>
          </p:cNvSpPr>
          <p:nvPr/>
        </p:nvSpPr>
        <p:spPr>
          <a:xfrm>
            <a:off x="424481" y="1186192"/>
            <a:ext cx="11300159" cy="52654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36495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000" b="0" dirty="0">
                <a:solidFill>
                  <a:schemeClr val="tx1"/>
                </a:solidFill>
                <a:latin typeface="AmericanSans"/>
              </a:rPr>
              <a:t>La </a:t>
            </a:r>
            <a:r>
              <a:rPr lang="es-CL" sz="2000" b="0" dirty="0" err="1">
                <a:solidFill>
                  <a:schemeClr val="tx1"/>
                </a:solidFill>
                <a:latin typeface="AmericanSans"/>
              </a:rPr>
              <a:t>libreria</a:t>
            </a:r>
            <a:r>
              <a:rPr lang="es-CL" sz="2000" b="0" dirty="0">
                <a:solidFill>
                  <a:schemeClr val="tx1"/>
                </a:solidFill>
                <a:latin typeface="AmericanSans"/>
              </a:rPr>
              <a:t> </a:t>
            </a:r>
            <a:r>
              <a:rPr lang="es-CL" sz="2000" dirty="0" err="1">
                <a:solidFill>
                  <a:schemeClr val="tx1"/>
                </a:solidFill>
                <a:latin typeface="AmericanSans"/>
              </a:rPr>
              <a:t>JUnit</a:t>
            </a:r>
            <a:r>
              <a:rPr lang="es-CL" sz="2000" b="0" dirty="0">
                <a:solidFill>
                  <a:schemeClr val="tx1"/>
                </a:solidFill>
                <a:latin typeface="AmericanSans"/>
              </a:rPr>
              <a:t> provee un </a:t>
            </a:r>
            <a:r>
              <a:rPr lang="es-CL" sz="2000" b="0" dirty="0" err="1">
                <a:solidFill>
                  <a:schemeClr val="tx1"/>
                </a:solidFill>
                <a:latin typeface="AmericanSans"/>
              </a:rPr>
              <a:t>framework</a:t>
            </a:r>
            <a:r>
              <a:rPr lang="es-CL" sz="2000" b="0" dirty="0">
                <a:solidFill>
                  <a:schemeClr val="tx1"/>
                </a:solidFill>
                <a:latin typeface="AmericanSans"/>
              </a:rPr>
              <a:t> con muchas herramientas para facilitar </a:t>
            </a:r>
            <a:r>
              <a:rPr lang="es-CL" sz="2000" b="0" dirty="0" err="1">
                <a:solidFill>
                  <a:schemeClr val="tx1"/>
                </a:solidFill>
                <a:latin typeface="AmericanSans"/>
              </a:rPr>
              <a:t>testing</a:t>
            </a:r>
            <a:r>
              <a:rPr lang="es-CL" sz="2000" b="0" dirty="0">
                <a:solidFill>
                  <a:schemeClr val="tx1"/>
                </a:solidFill>
                <a:latin typeface="AmericanSans"/>
              </a:rPr>
              <a:t> en Java.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000" b="0" dirty="0">
                <a:solidFill>
                  <a:schemeClr val="tx1"/>
                </a:solidFill>
                <a:latin typeface="AmericanSans"/>
              </a:rPr>
              <a:t>Creamos </a:t>
            </a:r>
            <a:r>
              <a:rPr lang="es-CL" sz="2000" dirty="0">
                <a:solidFill>
                  <a:schemeClr val="tx1"/>
                </a:solidFill>
                <a:latin typeface="AmericanSans"/>
              </a:rPr>
              <a:t>1 test unitario por cada comportamiento </a:t>
            </a:r>
            <a:r>
              <a:rPr lang="es-CL" sz="2000" b="0" dirty="0">
                <a:solidFill>
                  <a:schemeClr val="tx1"/>
                </a:solidFill>
                <a:latin typeface="AmericanSans"/>
              </a:rPr>
              <a:t>de la interfaz.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000" b="0" dirty="0">
                <a:solidFill>
                  <a:schemeClr val="tx1"/>
                </a:solidFill>
                <a:latin typeface="AmericanSans"/>
              </a:rPr>
              <a:t>Cada test unitario es un </a:t>
            </a:r>
            <a:r>
              <a:rPr lang="es-CL" sz="2000" b="0" dirty="0" err="1">
                <a:solidFill>
                  <a:schemeClr val="tx1"/>
                </a:solidFill>
                <a:latin typeface="AmericanSans"/>
              </a:rPr>
              <a:t>metodo</a:t>
            </a:r>
            <a:r>
              <a:rPr lang="es-CL" sz="2000" b="0" dirty="0">
                <a:solidFill>
                  <a:schemeClr val="tx1"/>
                </a:solidFill>
                <a:latin typeface="AmericanSans"/>
              </a:rPr>
              <a:t> de tipo </a:t>
            </a:r>
            <a:r>
              <a:rPr lang="es-CL" sz="2000" b="0" dirty="0" err="1">
                <a:solidFill>
                  <a:schemeClr val="tx1"/>
                </a:solidFill>
                <a:latin typeface="AmericanSans"/>
              </a:rPr>
              <a:t>void</a:t>
            </a:r>
            <a:r>
              <a:rPr lang="es-CL" sz="2000" b="0" dirty="0">
                <a:solidFill>
                  <a:schemeClr val="tx1"/>
                </a:solidFill>
                <a:latin typeface="AmericanSans"/>
              </a:rPr>
              <a:t> en la clase </a:t>
            </a:r>
            <a:r>
              <a:rPr lang="es-CL" sz="2000" dirty="0" err="1">
                <a:solidFill>
                  <a:schemeClr val="tx1"/>
                </a:solidFill>
                <a:latin typeface="AmericanSans"/>
              </a:rPr>
              <a:t>CalculatorTest</a:t>
            </a:r>
            <a:r>
              <a:rPr lang="es-CL" sz="2000" b="0" dirty="0">
                <a:solidFill>
                  <a:schemeClr val="tx1"/>
                </a:solidFill>
                <a:latin typeface="AmericanSans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000" b="0" dirty="0">
                <a:solidFill>
                  <a:schemeClr val="tx1"/>
                </a:solidFill>
                <a:latin typeface="AmericanSans"/>
              </a:rPr>
              <a:t>Nombre del test sigue esta </a:t>
            </a:r>
            <a:r>
              <a:rPr lang="es-CL" sz="2000" b="0" dirty="0" err="1">
                <a:solidFill>
                  <a:schemeClr val="tx1"/>
                </a:solidFill>
                <a:latin typeface="AmericanSans"/>
              </a:rPr>
              <a:t>convencion</a:t>
            </a:r>
            <a:r>
              <a:rPr lang="es-CL" sz="2000" b="0" dirty="0">
                <a:solidFill>
                  <a:schemeClr val="tx1"/>
                </a:solidFill>
                <a:latin typeface="AmericanSans"/>
              </a:rPr>
              <a:t>:</a:t>
            </a:r>
          </a:p>
          <a:p>
            <a:pPr algn="ctr"/>
            <a:r>
              <a:rPr lang="es-CL" sz="2000" b="0" dirty="0">
                <a:solidFill>
                  <a:schemeClr val="tx1"/>
                </a:solidFill>
                <a:latin typeface="AmericanSans"/>
              </a:rPr>
              <a:t>&lt;</a:t>
            </a:r>
            <a:r>
              <a:rPr lang="es-CL" sz="2000" b="0" dirty="0" err="1">
                <a:solidFill>
                  <a:schemeClr val="tx1"/>
                </a:solidFill>
                <a:latin typeface="AmericanSans"/>
              </a:rPr>
              <a:t>nombreMetodo</a:t>
            </a:r>
            <a:r>
              <a:rPr lang="es-CL" sz="2000" b="0" dirty="0">
                <a:solidFill>
                  <a:schemeClr val="tx1"/>
                </a:solidFill>
                <a:latin typeface="AmericanSans"/>
              </a:rPr>
              <a:t>&gt;_&lt;escenario&gt;_&lt;</a:t>
            </a:r>
            <a:r>
              <a:rPr lang="es-CL" sz="2000" b="0" dirty="0" err="1">
                <a:solidFill>
                  <a:schemeClr val="tx1"/>
                </a:solidFill>
                <a:latin typeface="AmericanSans"/>
              </a:rPr>
              <a:t>resultadoEsperado</a:t>
            </a:r>
            <a:r>
              <a:rPr lang="es-CL" sz="2000" b="0" dirty="0">
                <a:solidFill>
                  <a:schemeClr val="tx1"/>
                </a:solidFill>
                <a:latin typeface="AmericanSans"/>
              </a:rPr>
              <a:t>&gt;()</a:t>
            </a:r>
          </a:p>
          <a:p>
            <a:r>
              <a:rPr lang="es-CL" sz="2000" b="0" dirty="0" err="1">
                <a:solidFill>
                  <a:schemeClr val="tx1"/>
                </a:solidFill>
                <a:latin typeface="AmericanSans"/>
              </a:rPr>
              <a:t>Ej</a:t>
            </a:r>
            <a:r>
              <a:rPr lang="es-CL" sz="2000" b="0" dirty="0">
                <a:solidFill>
                  <a:schemeClr val="tx1"/>
                </a:solidFill>
                <a:latin typeface="AmericanSans"/>
              </a:rPr>
              <a:t>:</a:t>
            </a:r>
          </a:p>
          <a:p>
            <a:endParaRPr lang="es-CL" sz="2000" b="0" dirty="0">
              <a:solidFill>
                <a:schemeClr val="tx1"/>
              </a:solidFill>
              <a:latin typeface="AmericanSan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000" b="0" dirty="0">
                <a:solidFill>
                  <a:schemeClr val="tx1"/>
                </a:solidFill>
                <a:latin typeface="AmericanSans"/>
              </a:rPr>
              <a:t>El test unitario se implementa con estructura </a:t>
            </a:r>
            <a:r>
              <a:rPr lang="es-CL" sz="2000" dirty="0">
                <a:solidFill>
                  <a:schemeClr val="tx1"/>
                </a:solidFill>
                <a:latin typeface="AmericanSans"/>
              </a:rPr>
              <a:t>AAA</a:t>
            </a:r>
            <a:r>
              <a:rPr lang="es-CL" sz="2000" b="0" dirty="0">
                <a:solidFill>
                  <a:schemeClr val="tx1"/>
                </a:solidFill>
                <a:latin typeface="AmericanSans"/>
              </a:rPr>
              <a:t>:</a:t>
            </a:r>
          </a:p>
          <a:p>
            <a:pPr marL="1028700" lvl="1" indent="-342900"/>
            <a:r>
              <a:rPr lang="es-CL" sz="1800" b="1" dirty="0" err="1">
                <a:solidFill>
                  <a:schemeClr val="tx1"/>
                </a:solidFill>
                <a:latin typeface="AmericanSans"/>
              </a:rPr>
              <a:t>A</a:t>
            </a:r>
            <a:r>
              <a:rPr lang="es-CL" sz="1800" b="0" dirty="0" err="1">
                <a:solidFill>
                  <a:schemeClr val="tx1"/>
                </a:solidFill>
                <a:latin typeface="AmericanSans"/>
              </a:rPr>
              <a:t>rrange</a:t>
            </a:r>
            <a:r>
              <a:rPr lang="es-CL" sz="1800" b="0" dirty="0">
                <a:solidFill>
                  <a:schemeClr val="tx1"/>
                </a:solidFill>
                <a:latin typeface="AmericanSans"/>
              </a:rPr>
              <a:t> (organizar): </a:t>
            </a:r>
            <a:r>
              <a:rPr lang="es-CL" sz="1800" b="0" dirty="0" err="1">
                <a:solidFill>
                  <a:schemeClr val="tx1"/>
                </a:solidFill>
                <a:latin typeface="AmericanSans"/>
              </a:rPr>
              <a:t>setear</a:t>
            </a:r>
            <a:r>
              <a:rPr lang="es-CL" sz="1800" b="0" dirty="0">
                <a:solidFill>
                  <a:schemeClr val="tx1"/>
                </a:solidFill>
                <a:latin typeface="AmericanSans"/>
              </a:rPr>
              <a:t> las variables y objetos del test, incluido los resultados esperados.</a:t>
            </a:r>
          </a:p>
          <a:p>
            <a:pPr marL="1028700" lvl="1" indent="-342900"/>
            <a:r>
              <a:rPr lang="es-CL" sz="1800" b="1" dirty="0" err="1">
                <a:latin typeface="AmericanSans"/>
              </a:rPr>
              <a:t>A</a:t>
            </a:r>
            <a:r>
              <a:rPr lang="es-CL" sz="1800" dirty="0" err="1">
                <a:latin typeface="AmericanSans"/>
              </a:rPr>
              <a:t>ct</a:t>
            </a:r>
            <a:r>
              <a:rPr lang="es-CL" sz="1800" dirty="0">
                <a:latin typeface="AmericanSans"/>
              </a:rPr>
              <a:t> (actuar): actuar sobre el método y guardar el resultado obtenido.</a:t>
            </a:r>
          </a:p>
          <a:p>
            <a:pPr marL="1028700" lvl="1" indent="-342900"/>
            <a:r>
              <a:rPr lang="es-CL" sz="1800" b="1" dirty="0" err="1">
                <a:solidFill>
                  <a:schemeClr val="tx1"/>
                </a:solidFill>
                <a:latin typeface="AmericanSans"/>
              </a:rPr>
              <a:t>A</a:t>
            </a:r>
            <a:r>
              <a:rPr lang="es-CL" sz="1800" b="0" dirty="0" err="1">
                <a:solidFill>
                  <a:schemeClr val="tx1"/>
                </a:solidFill>
                <a:latin typeface="AmericanSans"/>
              </a:rPr>
              <a:t>ssert</a:t>
            </a:r>
            <a:r>
              <a:rPr lang="es-CL" sz="1800" b="0" dirty="0">
                <a:solidFill>
                  <a:schemeClr val="tx1"/>
                </a:solidFill>
                <a:latin typeface="AmericanSans"/>
              </a:rPr>
              <a:t> (chequear): comparar el resultado obtenido con el esperado.</a:t>
            </a:r>
          </a:p>
          <a:p>
            <a:pPr marL="1028700" lvl="1" indent="-342900"/>
            <a:endParaRPr lang="es-CL" sz="1800" dirty="0">
              <a:latin typeface="AmericanSan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366426-551A-8FCA-41ED-A455AA792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562" y="3262626"/>
            <a:ext cx="9952163" cy="332748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899C128B-67DD-CB3B-DF84-6DD4999D29A2}"/>
              </a:ext>
            </a:extLst>
          </p:cNvPr>
          <p:cNvSpPr/>
          <p:nvPr/>
        </p:nvSpPr>
        <p:spPr>
          <a:xfrm>
            <a:off x="5618480" y="5756148"/>
            <a:ext cx="5974746" cy="663222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Vamos al </a:t>
            </a:r>
            <a:r>
              <a:rPr lang="en-US" dirty="0" err="1">
                <a:solidFill>
                  <a:schemeClr val="tx1"/>
                </a:solidFill>
              </a:rPr>
              <a:t>repositorio</a:t>
            </a:r>
            <a:r>
              <a:rPr lang="en-US" dirty="0">
                <a:solidFill>
                  <a:schemeClr val="tx1"/>
                </a:solidFill>
              </a:rPr>
              <a:t>:        </a:t>
            </a:r>
            <a:r>
              <a:rPr lang="en-US" dirty="0">
                <a:solidFill>
                  <a:srgbClr val="4A75C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https://github.com/fjzs/testing</a:t>
            </a:r>
            <a:r>
              <a:rPr lang="en-US" dirty="0">
                <a:solidFill>
                  <a:srgbClr val="4A75CC"/>
                </a:solidFill>
              </a:rPr>
              <a:t> </a:t>
            </a:r>
          </a:p>
        </p:txBody>
      </p:sp>
      <p:pic>
        <p:nvPicPr>
          <p:cNvPr id="3077" name="Picture 5" descr="Java Logo and symbol, meaning, history ...">
            <a:extLst>
              <a:ext uri="{FF2B5EF4-FFF2-40B4-BE49-F238E27FC236}">
                <a16:creationId xmlns:a16="http://schemas.microsoft.com/office/drawing/2014/main" id="{4DF16F9B-8FA5-4FE9-14B4-823F877C4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3250" y="799156"/>
            <a:ext cx="1428750" cy="800100"/>
          </a:xfrm>
          <a:prstGeom prst="rect">
            <a:avLst/>
          </a:prstGeom>
          <a:noFill/>
        </p:spPr>
      </p:pic>
      <p:pic>
        <p:nvPicPr>
          <p:cNvPr id="3079" name="Picture 7" descr="JUnit · GitHub">
            <a:extLst>
              <a:ext uri="{FF2B5EF4-FFF2-40B4-BE49-F238E27FC236}">
                <a16:creationId xmlns:a16="http://schemas.microsoft.com/office/drawing/2014/main" id="{DC665789-6969-C6D6-67C6-2F6EDD376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1855" y="-147318"/>
            <a:ext cx="967101" cy="967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1241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</TotalTime>
  <Words>1112</Words>
  <Application>Microsoft Office PowerPoint</Application>
  <PresentationFormat>Widescreen</PresentationFormat>
  <Paragraphs>122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AmericanSans</vt:lpstr>
      <vt:lpstr>Aptos</vt:lpstr>
      <vt:lpstr>Aptos Display</vt:lpstr>
      <vt:lpstr>Arial</vt:lpstr>
      <vt:lpstr>Calibri</vt:lpstr>
      <vt:lpstr>Consolas</vt:lpstr>
      <vt:lpstr>Office Theme</vt:lpstr>
      <vt:lpstr>Introduction to Unit Testing</vt:lpstr>
      <vt:lpstr>Types of tests</vt:lpstr>
      <vt:lpstr>Hierarchy of functional tests</vt:lpstr>
      <vt:lpstr>Hierarchy of functional tests</vt:lpstr>
      <vt:lpstr>Hierarchy of functional tests</vt:lpstr>
      <vt:lpstr>Hierarchy of functional tests</vt:lpstr>
      <vt:lpstr>Hierarchy of functional tests</vt:lpstr>
      <vt:lpstr>A calculator example</vt:lpstr>
      <vt:lpstr>Example: adding two integers</vt:lpstr>
      <vt:lpstr>Definition: a module has an interface and an implementation</vt:lpstr>
      <vt:lpstr>What to test? The “behaviors” of the interface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Francisco Zenteno Smith</dc:creator>
  <cp:lastModifiedBy>Francisco Zenteno Smith</cp:lastModifiedBy>
  <cp:revision>95</cp:revision>
  <dcterms:created xsi:type="dcterms:W3CDTF">2024-12-29T21:37:15Z</dcterms:created>
  <dcterms:modified xsi:type="dcterms:W3CDTF">2026-06-22T03:29:10Z</dcterms:modified>
</cp:coreProperties>
</file>